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1pPr>
    <a:lvl2pPr indent="2286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2pPr>
    <a:lvl3pPr indent="4572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3pPr>
    <a:lvl4pPr indent="6858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4pPr>
    <a:lvl5pPr indent="9144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914400" y="2130427"/>
            <a:ext cx="10363200" cy="1470026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963084" y="4406903"/>
            <a:ext cx="10363201" cy="1362076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963084" y="2906713"/>
            <a:ext cx="103632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609600" y="1535112"/>
            <a:ext cx="5386917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6193368" y="1535112"/>
            <a:ext cx="5389034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609601" y="273050"/>
            <a:ext cx="401108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609601" y="1435103"/>
            <a:ext cx="401108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2389716" y="4800600"/>
            <a:ext cx="73152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2389716" y="612775"/>
            <a:ext cx="73152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2389716" y="5367337"/>
            <a:ext cx="73152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308744" y="6404295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5pPr>
      <a:lvl6pPr marL="0" marR="0" indent="4572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6pPr>
      <a:lvl7pPr marL="0" marR="0" indent="9144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7pPr>
      <a:lvl8pPr marL="0" marR="0" indent="13716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8pPr>
      <a:lvl9pPr marL="0" marR="0" indent="18288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.jpe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24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Freeform: Shape 26"/>
          <p:cNvSpPr/>
          <p:nvPr/>
        </p:nvSpPr>
        <p:spPr>
          <a:xfrm>
            <a:off x="6611820" y="851516"/>
            <a:ext cx="4638606" cy="51549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23" h="21600" fill="norm" stroke="1" extrusionOk="0">
                <a:moveTo>
                  <a:pt x="1264" y="13095"/>
                </a:moveTo>
                <a:cubicBezTo>
                  <a:pt x="1264" y="13095"/>
                  <a:pt x="1264" y="13095"/>
                  <a:pt x="3126" y="13095"/>
                </a:cubicBezTo>
                <a:cubicBezTo>
                  <a:pt x="3243" y="13095"/>
                  <a:pt x="3355" y="13172"/>
                  <a:pt x="3412" y="13298"/>
                </a:cubicBezTo>
                <a:cubicBezTo>
                  <a:pt x="3412" y="13298"/>
                  <a:pt x="3412" y="13298"/>
                  <a:pt x="4345" y="15232"/>
                </a:cubicBezTo>
                <a:cubicBezTo>
                  <a:pt x="4405" y="15353"/>
                  <a:pt x="4405" y="15507"/>
                  <a:pt x="4345" y="15628"/>
                </a:cubicBezTo>
                <a:cubicBezTo>
                  <a:pt x="4345" y="15628"/>
                  <a:pt x="4345" y="15628"/>
                  <a:pt x="3412" y="17563"/>
                </a:cubicBezTo>
                <a:cubicBezTo>
                  <a:pt x="3355" y="17688"/>
                  <a:pt x="3243" y="17765"/>
                  <a:pt x="3126" y="17765"/>
                </a:cubicBezTo>
                <a:cubicBezTo>
                  <a:pt x="3126" y="17765"/>
                  <a:pt x="3126" y="17765"/>
                  <a:pt x="1264" y="17765"/>
                </a:cubicBezTo>
                <a:cubicBezTo>
                  <a:pt x="1143" y="17765"/>
                  <a:pt x="1035" y="17688"/>
                  <a:pt x="974" y="17563"/>
                </a:cubicBezTo>
                <a:cubicBezTo>
                  <a:pt x="974" y="17563"/>
                  <a:pt x="974" y="17563"/>
                  <a:pt x="45" y="15628"/>
                </a:cubicBezTo>
                <a:cubicBezTo>
                  <a:pt x="-15" y="15507"/>
                  <a:pt x="-15" y="15353"/>
                  <a:pt x="45" y="15232"/>
                </a:cubicBezTo>
                <a:cubicBezTo>
                  <a:pt x="45" y="15232"/>
                  <a:pt x="45" y="15232"/>
                  <a:pt x="974" y="13298"/>
                </a:cubicBezTo>
                <a:cubicBezTo>
                  <a:pt x="1035" y="13172"/>
                  <a:pt x="1143" y="13095"/>
                  <a:pt x="1264" y="13095"/>
                </a:cubicBezTo>
                <a:close/>
                <a:moveTo>
                  <a:pt x="8664" y="2389"/>
                </a:moveTo>
                <a:cubicBezTo>
                  <a:pt x="8664" y="2389"/>
                  <a:pt x="8664" y="2389"/>
                  <a:pt x="9622" y="2389"/>
                </a:cubicBezTo>
                <a:lnTo>
                  <a:pt x="9733" y="2389"/>
                </a:lnTo>
                <a:lnTo>
                  <a:pt x="9840" y="2610"/>
                </a:lnTo>
                <a:cubicBezTo>
                  <a:pt x="9988" y="2917"/>
                  <a:pt x="10161" y="3275"/>
                  <a:pt x="10362" y="3692"/>
                </a:cubicBezTo>
                <a:cubicBezTo>
                  <a:pt x="10454" y="3877"/>
                  <a:pt x="10454" y="4113"/>
                  <a:pt x="10362" y="4298"/>
                </a:cubicBezTo>
                <a:cubicBezTo>
                  <a:pt x="10362" y="4298"/>
                  <a:pt x="10362" y="4298"/>
                  <a:pt x="8933" y="7261"/>
                </a:cubicBezTo>
                <a:cubicBezTo>
                  <a:pt x="8847" y="7453"/>
                  <a:pt x="8674" y="7571"/>
                  <a:pt x="8496" y="7571"/>
                </a:cubicBezTo>
                <a:cubicBezTo>
                  <a:pt x="8496" y="7571"/>
                  <a:pt x="8496" y="7571"/>
                  <a:pt x="5644" y="7571"/>
                </a:cubicBezTo>
                <a:cubicBezTo>
                  <a:pt x="5598" y="7571"/>
                  <a:pt x="5553" y="7564"/>
                  <a:pt x="5510" y="7550"/>
                </a:cubicBezTo>
                <a:lnTo>
                  <a:pt x="5417" y="7503"/>
                </a:lnTo>
                <a:lnTo>
                  <a:pt x="5474" y="7386"/>
                </a:lnTo>
                <a:cubicBezTo>
                  <a:pt x="5984" y="6323"/>
                  <a:pt x="6637" y="4963"/>
                  <a:pt x="7473" y="3222"/>
                </a:cubicBezTo>
                <a:cubicBezTo>
                  <a:pt x="7721" y="2706"/>
                  <a:pt x="8168" y="2389"/>
                  <a:pt x="8664" y="2389"/>
                </a:cubicBezTo>
                <a:close/>
                <a:moveTo>
                  <a:pt x="5475" y="0"/>
                </a:moveTo>
                <a:cubicBezTo>
                  <a:pt x="5475" y="0"/>
                  <a:pt x="5475" y="0"/>
                  <a:pt x="8692" y="0"/>
                </a:cubicBezTo>
                <a:cubicBezTo>
                  <a:pt x="8893" y="0"/>
                  <a:pt x="9088" y="133"/>
                  <a:pt x="9185" y="350"/>
                </a:cubicBezTo>
                <a:cubicBezTo>
                  <a:pt x="9185" y="350"/>
                  <a:pt x="9185" y="350"/>
                  <a:pt x="10050" y="2143"/>
                </a:cubicBezTo>
                <a:lnTo>
                  <a:pt x="10147" y="2345"/>
                </a:lnTo>
                <a:lnTo>
                  <a:pt x="9707" y="2345"/>
                </a:lnTo>
                <a:lnTo>
                  <a:pt x="9550" y="2018"/>
                </a:lnTo>
                <a:cubicBezTo>
                  <a:pt x="8947" y="768"/>
                  <a:pt x="8947" y="768"/>
                  <a:pt x="8947" y="768"/>
                </a:cubicBezTo>
                <a:cubicBezTo>
                  <a:pt x="8860" y="576"/>
                  <a:pt x="8688" y="458"/>
                  <a:pt x="8509" y="458"/>
                </a:cubicBezTo>
                <a:cubicBezTo>
                  <a:pt x="5658" y="458"/>
                  <a:pt x="5658" y="458"/>
                  <a:pt x="5658" y="458"/>
                </a:cubicBezTo>
                <a:cubicBezTo>
                  <a:pt x="5473" y="458"/>
                  <a:pt x="5306" y="576"/>
                  <a:pt x="5214" y="768"/>
                </a:cubicBezTo>
                <a:cubicBezTo>
                  <a:pt x="3791" y="3731"/>
                  <a:pt x="3791" y="3731"/>
                  <a:pt x="3791" y="3731"/>
                </a:cubicBezTo>
                <a:cubicBezTo>
                  <a:pt x="3699" y="3916"/>
                  <a:pt x="3699" y="4152"/>
                  <a:pt x="3791" y="4337"/>
                </a:cubicBezTo>
                <a:cubicBezTo>
                  <a:pt x="5214" y="7300"/>
                  <a:pt x="5214" y="7300"/>
                  <a:pt x="5214" y="7300"/>
                </a:cubicBezTo>
                <a:cubicBezTo>
                  <a:pt x="5260" y="7396"/>
                  <a:pt x="5325" y="7474"/>
                  <a:pt x="5401" y="7527"/>
                </a:cubicBezTo>
                <a:lnTo>
                  <a:pt x="5423" y="7538"/>
                </a:lnTo>
                <a:lnTo>
                  <a:pt x="5307" y="7780"/>
                </a:lnTo>
                <a:lnTo>
                  <a:pt x="5220" y="7960"/>
                </a:lnTo>
                <a:lnTo>
                  <a:pt x="5310" y="8005"/>
                </a:lnTo>
                <a:cubicBezTo>
                  <a:pt x="5358" y="8021"/>
                  <a:pt x="5409" y="8029"/>
                  <a:pt x="5461" y="8029"/>
                </a:cubicBezTo>
                <a:cubicBezTo>
                  <a:pt x="8678" y="8029"/>
                  <a:pt x="8678" y="8029"/>
                  <a:pt x="8678" y="8029"/>
                </a:cubicBezTo>
                <a:cubicBezTo>
                  <a:pt x="8880" y="8029"/>
                  <a:pt x="9074" y="7896"/>
                  <a:pt x="9172" y="7679"/>
                </a:cubicBezTo>
                <a:cubicBezTo>
                  <a:pt x="10783" y="4337"/>
                  <a:pt x="10783" y="4337"/>
                  <a:pt x="10783" y="4337"/>
                </a:cubicBezTo>
                <a:cubicBezTo>
                  <a:pt x="10888" y="4128"/>
                  <a:pt x="10888" y="3862"/>
                  <a:pt x="10783" y="3653"/>
                </a:cubicBezTo>
                <a:cubicBezTo>
                  <a:pt x="10582" y="3235"/>
                  <a:pt x="10406" y="2870"/>
                  <a:pt x="10251" y="2550"/>
                </a:cubicBezTo>
                <a:lnTo>
                  <a:pt x="10173" y="2389"/>
                </a:lnTo>
                <a:lnTo>
                  <a:pt x="10534" y="2389"/>
                </a:lnTo>
                <a:cubicBezTo>
                  <a:pt x="11656" y="2389"/>
                  <a:pt x="13452" y="2389"/>
                  <a:pt x="16324" y="2389"/>
                </a:cubicBezTo>
                <a:cubicBezTo>
                  <a:pt x="16804" y="2389"/>
                  <a:pt x="17267" y="2706"/>
                  <a:pt x="17499" y="3222"/>
                </a:cubicBezTo>
                <a:cubicBezTo>
                  <a:pt x="17499" y="3222"/>
                  <a:pt x="17499" y="3222"/>
                  <a:pt x="21337" y="11181"/>
                </a:cubicBezTo>
                <a:cubicBezTo>
                  <a:pt x="21585" y="11677"/>
                  <a:pt x="21585" y="12312"/>
                  <a:pt x="21337" y="12808"/>
                </a:cubicBezTo>
                <a:cubicBezTo>
                  <a:pt x="21337" y="12808"/>
                  <a:pt x="21337" y="12808"/>
                  <a:pt x="17499" y="20766"/>
                </a:cubicBezTo>
                <a:cubicBezTo>
                  <a:pt x="17267" y="21282"/>
                  <a:pt x="16804" y="21600"/>
                  <a:pt x="16324" y="21600"/>
                </a:cubicBezTo>
                <a:cubicBezTo>
                  <a:pt x="16324" y="21600"/>
                  <a:pt x="16324" y="21600"/>
                  <a:pt x="8664" y="21600"/>
                </a:cubicBezTo>
                <a:cubicBezTo>
                  <a:pt x="8168" y="21600"/>
                  <a:pt x="7721" y="21282"/>
                  <a:pt x="7473" y="20766"/>
                </a:cubicBezTo>
                <a:cubicBezTo>
                  <a:pt x="7473" y="20766"/>
                  <a:pt x="7473" y="20766"/>
                  <a:pt x="3651" y="12808"/>
                </a:cubicBezTo>
                <a:cubicBezTo>
                  <a:pt x="3403" y="12312"/>
                  <a:pt x="3403" y="11677"/>
                  <a:pt x="3651" y="11181"/>
                </a:cubicBezTo>
                <a:cubicBezTo>
                  <a:pt x="3651" y="11181"/>
                  <a:pt x="3651" y="11181"/>
                  <a:pt x="5070" y="8226"/>
                </a:cubicBezTo>
                <a:lnTo>
                  <a:pt x="5190" y="7976"/>
                </a:lnTo>
                <a:lnTo>
                  <a:pt x="5186" y="7974"/>
                </a:lnTo>
                <a:cubicBezTo>
                  <a:pt x="5100" y="7914"/>
                  <a:pt x="5027" y="7826"/>
                  <a:pt x="4975" y="7718"/>
                </a:cubicBezTo>
                <a:cubicBezTo>
                  <a:pt x="4975" y="7718"/>
                  <a:pt x="4975" y="7718"/>
                  <a:pt x="3370" y="4376"/>
                </a:cubicBezTo>
                <a:cubicBezTo>
                  <a:pt x="3266" y="4167"/>
                  <a:pt x="3266" y="3901"/>
                  <a:pt x="3370" y="3692"/>
                </a:cubicBezTo>
                <a:cubicBezTo>
                  <a:pt x="3370" y="3692"/>
                  <a:pt x="3370" y="3692"/>
                  <a:pt x="4975" y="350"/>
                </a:cubicBezTo>
                <a:cubicBezTo>
                  <a:pt x="5079" y="133"/>
                  <a:pt x="5267" y="0"/>
                  <a:pt x="5475" y="0"/>
                </a:cubicBezTo>
                <a:close/>
              </a:path>
            </a:pathLst>
          </a:custGeom>
          <a:solidFill>
            <a:srgbClr val="808080">
              <a:alpha val="1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9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0" t="0" r="59916" b="0"/>
          <a:stretch>
            <a:fillRect/>
          </a:stretch>
        </p:blipFill>
        <p:spPr>
          <a:xfrm>
            <a:off x="7901371" y="1715889"/>
            <a:ext cx="3203510" cy="3426238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Subtitle 3"/>
          <p:cNvSpPr txBox="1"/>
          <p:nvPr>
            <p:ph type="subTitle" sz="quarter" idx="1"/>
          </p:nvPr>
        </p:nvSpPr>
        <p:spPr>
          <a:xfrm>
            <a:off x="4880292" y="753230"/>
            <a:ext cx="2431416" cy="490896"/>
          </a:xfrm>
          <a:prstGeom prst="rect">
            <a:avLst/>
          </a:prstGeom>
        </p:spPr>
        <p:txBody>
          <a:bodyPr anchor="ctr"/>
          <a:lstStyle>
            <a:lvl1pPr>
              <a:spcBef>
                <a:spcPts val="500"/>
              </a:spcBef>
              <a:defRPr b="1" sz="2400">
                <a:solidFill>
                  <a:srgbClr val="142D4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TITLE PAGE</a:t>
            </a:r>
          </a:p>
        </p:txBody>
      </p:sp>
      <p:sp>
        <p:nvSpPr>
          <p:cNvPr id="98" name="Title 7"/>
          <p:cNvSpPr txBox="1"/>
          <p:nvPr>
            <p:ph type="ctrTitle"/>
          </p:nvPr>
        </p:nvSpPr>
        <p:spPr>
          <a:xfrm>
            <a:off x="3020000" y="264340"/>
            <a:ext cx="6152000" cy="490896"/>
          </a:xfrm>
          <a:prstGeom prst="rect">
            <a:avLst/>
          </a:prstGeom>
        </p:spPr>
        <p:txBody>
          <a:bodyPr/>
          <a:lstStyle>
            <a:lvl1pPr>
              <a:defRPr b="1" sz="2700">
                <a:solidFill>
                  <a:srgbClr val="2369A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SMART INDIA HACKATHON 2026</a:t>
            </a:r>
          </a:p>
        </p:txBody>
      </p:sp>
      <p:pic>
        <p:nvPicPr>
          <p:cNvPr id="99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841365" y="6297"/>
            <a:ext cx="2209121" cy="112286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02" name="Rounded Rectangle 1026"/>
          <p:cNvGrpSpPr/>
          <p:nvPr/>
        </p:nvGrpSpPr>
        <p:grpSpPr>
          <a:xfrm>
            <a:off x="2349593" y="5329425"/>
            <a:ext cx="3956957" cy="1466076"/>
            <a:chOff x="0" y="-99930"/>
            <a:chExt cx="3956955" cy="1466075"/>
          </a:xfrm>
        </p:grpSpPr>
        <p:sp>
          <p:nvSpPr>
            <p:cNvPr id="100" name="Rounded Rectangle"/>
            <p:cNvSpPr/>
            <p:nvPr/>
          </p:nvSpPr>
          <p:spPr>
            <a:xfrm>
              <a:off x="0" y="0"/>
              <a:ext cx="3956956" cy="1293013"/>
            </a:xfrm>
            <a:prstGeom prst="roundRect">
              <a:avLst>
                <a:gd name="adj" fmla="val 16667"/>
              </a:avLst>
            </a:prstGeom>
            <a:solidFill>
              <a:srgbClr val="F2F6F9"/>
            </a:solidFill>
            <a:ln w="12700" cap="flat">
              <a:solidFill>
                <a:srgbClr val="D7E1E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1" name="Public money deserves public clarity.…"/>
            <p:cNvSpPr txBox="1"/>
            <p:nvPr/>
          </p:nvSpPr>
          <p:spPr>
            <a:xfrm>
              <a:off x="118401" y="-99931"/>
              <a:ext cx="3706909" cy="14660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1500">
                  <a:solidFill>
                    <a:srgbClr val="142D4B"/>
                  </a:solidFill>
                  <a:latin typeface="Artifakt Element"/>
                  <a:ea typeface="Artifakt Element"/>
                  <a:cs typeface="Artifakt Element"/>
                  <a:sym typeface="Artifakt Element"/>
                </a:defRPr>
              </a:pPr>
              <a:r>
                <a:t>Public money deserves public clarity.</a:t>
              </a:r>
            </a:p>
            <a:p>
              <a:pPr algn="ctr">
                <a:defRPr b="1" sz="1500">
                  <a:solidFill>
                    <a:srgbClr val="142D4B"/>
                  </a:solidFill>
                  <a:latin typeface="Artifakt Element"/>
                  <a:ea typeface="Artifakt Element"/>
                  <a:cs typeface="Artifakt Element"/>
                  <a:sym typeface="Artifakt Element"/>
                </a:defRPr>
              </a:pPr>
              <a:r>
                <a:t>We take government records and turn them into information people can understand.</a:t>
              </a:r>
            </a:p>
          </p:txBody>
        </p:sp>
      </p:grpSp>
      <p:pic>
        <p:nvPicPr>
          <p:cNvPr id="103" name="WhatsApp Image 2026-09-07 at 23.09.04.jpeg" descr="WhatsApp Image 2026-09-07 at 23.09.04.jpe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855758" y="16320"/>
            <a:ext cx="2286001" cy="1155701"/>
          </a:xfrm>
          <a:prstGeom prst="rect">
            <a:avLst/>
          </a:prstGeom>
          <a:ln w="12700">
            <a:miter lim="400000"/>
          </a:ln>
        </p:spPr>
      </p:pic>
      <p:sp>
        <p:nvSpPr>
          <p:cNvPr id="104" name="TextBox 9"/>
          <p:cNvSpPr txBox="1"/>
          <p:nvPr/>
        </p:nvSpPr>
        <p:spPr>
          <a:xfrm>
            <a:off x="255086" y="1580655"/>
            <a:ext cx="5833110" cy="3696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/>
            </a:pPr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pPr>
            <a:r>
              <a:t>Problem Statement ID – </a:t>
            </a:r>
            <a:r>
              <a:rPr b="0"/>
              <a:t>SIH26102</a:t>
            </a:r>
            <a:endParaRPr b="0"/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pPr>
            <a:r>
              <a:t>Problem Statement Title- </a:t>
            </a:r>
            <a:r>
              <a:rPr b="0"/>
              <a:t>AI-powered system to detect fraud in MPLAD scheme</a:t>
            </a:r>
            <a:endParaRPr b="0"/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pPr>
            <a:r>
              <a:t>Theme- </a:t>
            </a:r>
            <a:r>
              <a:rPr b="0"/>
              <a:t>Smart Automation</a:t>
            </a:r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pPr>
            <a:r>
              <a:t>PS Category- </a:t>
            </a:r>
            <a:r>
              <a:rPr b="0"/>
              <a:t>Software</a:t>
            </a:r>
            <a:endParaRPr b="0"/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pPr>
            <a:r>
              <a:t>Team ID-</a:t>
            </a:r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pPr>
            <a:r>
              <a:t>Team Name- </a:t>
            </a:r>
            <a:r>
              <a:rPr b="0"/>
              <a:t>InfraSight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Footer Placeholder 6"/>
          <p:cNvSpPr txBox="1"/>
          <p:nvPr/>
        </p:nvSpPr>
        <p:spPr>
          <a:xfrm>
            <a:off x="4693920" y="6404295"/>
            <a:ext cx="31125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r>
              <a:t>@SIH Idea submission- Template</a:t>
            </a:r>
          </a:p>
        </p:txBody>
      </p:sp>
      <p:sp>
        <p:nvSpPr>
          <p:cNvPr id="107" name="Rectangle 8"/>
          <p:cNvSpPr/>
          <p:nvPr/>
        </p:nvSpPr>
        <p:spPr>
          <a:xfrm>
            <a:off x="-1" y="6354762"/>
            <a:ext cx="12192001" cy="503239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99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953735"/>
                </a:solidFill>
              </a:defRPr>
            </a:pPr>
          </a:p>
        </p:txBody>
      </p:sp>
      <p:sp>
        <p:nvSpPr>
          <p:cNvPr id="108" name="Title 1"/>
          <p:cNvSpPr txBox="1"/>
          <p:nvPr>
            <p:ph type="title"/>
          </p:nvPr>
        </p:nvSpPr>
        <p:spPr>
          <a:xfrm>
            <a:off x="1771683" y="188784"/>
            <a:ext cx="8259738" cy="929898"/>
          </a:xfrm>
          <a:prstGeom prst="rect">
            <a:avLst/>
          </a:prstGeom>
        </p:spPr>
        <p:txBody>
          <a:bodyPr/>
          <a:lstStyle>
            <a:lvl1pPr algn="l">
              <a:defRPr b="1" sz="2400" u="sng">
                <a:solidFill>
                  <a:srgbClr val="142D4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IDEA TITLE</a:t>
            </a:r>
          </a:p>
        </p:txBody>
      </p:sp>
      <p:sp>
        <p:nvSpPr>
          <p:cNvPr id="109" name="Slide Number Placeholder 5"/>
          <p:cNvSpPr txBox="1"/>
          <p:nvPr>
            <p:ph type="sldNum" sz="quarter" idx="2"/>
          </p:nvPr>
        </p:nvSpPr>
        <p:spPr>
          <a:xfrm>
            <a:off x="11393502" y="6404295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112" name="Oval 9"/>
          <p:cNvGrpSpPr/>
          <p:nvPr/>
        </p:nvGrpSpPr>
        <p:grpSpPr>
          <a:xfrm>
            <a:off x="323011" y="247885"/>
            <a:ext cx="1258620" cy="811695"/>
            <a:chOff x="0" y="0"/>
            <a:chExt cx="1258619" cy="811694"/>
          </a:xfrm>
        </p:grpSpPr>
        <p:sp>
          <p:nvSpPr>
            <p:cNvPr id="110" name="Oval"/>
            <p:cNvSpPr/>
            <p:nvPr/>
          </p:nvSpPr>
          <p:spPr>
            <a:xfrm>
              <a:off x="0" y="-1"/>
              <a:ext cx="1258620" cy="811696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11" name="InfraSight"/>
            <p:cNvSpPr txBox="1"/>
            <p:nvPr/>
          </p:nvSpPr>
          <p:spPr>
            <a:xfrm>
              <a:off x="45392" y="120289"/>
              <a:ext cx="1167835" cy="5711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b="1" sz="1500">
                  <a:solidFill>
                    <a:srgbClr val="142D4B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InfraSight</a:t>
              </a:r>
            </a:p>
          </p:txBody>
        </p:sp>
      </p:grpSp>
      <p:pic>
        <p:nvPicPr>
          <p:cNvPr id="11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841365" y="57096"/>
            <a:ext cx="2209121" cy="1122869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TextBox 15362"/>
          <p:cNvSpPr txBox="1"/>
          <p:nvPr/>
        </p:nvSpPr>
        <p:spPr>
          <a:xfrm>
            <a:off x="182995" y="1465598"/>
            <a:ext cx="1106424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200">
                <a:solidFill>
                  <a:srgbClr val="142D4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Making MPLADS data easier to see, question and act on.</a:t>
            </a:r>
          </a:p>
        </p:txBody>
      </p:sp>
      <p:grpSp>
        <p:nvGrpSpPr>
          <p:cNvPr id="117" name="Rounded Rectangle 15363"/>
          <p:cNvGrpSpPr/>
          <p:nvPr/>
        </p:nvGrpSpPr>
        <p:grpSpPr>
          <a:xfrm>
            <a:off x="743226" y="2087879"/>
            <a:ext cx="1783080" cy="868681"/>
            <a:chOff x="0" y="0"/>
            <a:chExt cx="1783079" cy="868680"/>
          </a:xfrm>
        </p:grpSpPr>
        <p:sp>
          <p:nvSpPr>
            <p:cNvPr id="115" name="Rounded Rectangle"/>
            <p:cNvSpPr/>
            <p:nvPr/>
          </p:nvSpPr>
          <p:spPr>
            <a:xfrm>
              <a:off x="0" y="0"/>
              <a:ext cx="1783080" cy="86868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2369A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16" name="OFFICIAL…"/>
            <p:cNvSpPr txBox="1"/>
            <p:nvPr/>
          </p:nvSpPr>
          <p:spPr>
            <a:xfrm>
              <a:off x="94474" y="185420"/>
              <a:ext cx="1594131" cy="497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300">
                  <a:solidFill>
                    <a:srgbClr val="2369A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OFFICIAL</a:t>
              </a:r>
            </a:p>
            <a:p>
              <a:pPr algn="ctr">
                <a:defRPr b="1" sz="1300">
                  <a:solidFill>
                    <a:srgbClr val="2369A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MPLADS DATA</a:t>
              </a:r>
            </a:p>
          </p:txBody>
        </p:sp>
      </p:grpSp>
      <p:sp>
        <p:nvSpPr>
          <p:cNvPr id="118" name="Connector 15364"/>
          <p:cNvSpPr/>
          <p:nvPr/>
        </p:nvSpPr>
        <p:spPr>
          <a:xfrm>
            <a:off x="2526306" y="2517648"/>
            <a:ext cx="475488" cy="1"/>
          </a:xfrm>
          <a:prstGeom prst="line">
            <a:avLst/>
          </a:prstGeom>
          <a:ln w="19050">
            <a:solidFill>
              <a:srgbClr val="5F69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grpSp>
        <p:nvGrpSpPr>
          <p:cNvPr id="121" name="Rounded Rectangle 15365"/>
          <p:cNvGrpSpPr/>
          <p:nvPr/>
        </p:nvGrpSpPr>
        <p:grpSpPr>
          <a:xfrm>
            <a:off x="3001794" y="2087879"/>
            <a:ext cx="1783081" cy="868681"/>
            <a:chOff x="0" y="0"/>
            <a:chExt cx="1783079" cy="868680"/>
          </a:xfrm>
        </p:grpSpPr>
        <p:sp>
          <p:nvSpPr>
            <p:cNvPr id="119" name="Rounded Rectangle"/>
            <p:cNvSpPr/>
            <p:nvPr/>
          </p:nvSpPr>
          <p:spPr>
            <a:xfrm>
              <a:off x="0" y="0"/>
              <a:ext cx="1783080" cy="86868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188782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0" name="CLEAN +…"/>
            <p:cNvSpPr txBox="1"/>
            <p:nvPr/>
          </p:nvSpPr>
          <p:spPr>
            <a:xfrm>
              <a:off x="94474" y="185420"/>
              <a:ext cx="1594131" cy="497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300">
                  <a:solidFill>
                    <a:srgbClr val="188782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CLEAN +</a:t>
              </a:r>
            </a:p>
            <a:p>
              <a:pPr algn="ctr">
                <a:defRPr b="1" sz="1300">
                  <a:solidFill>
                    <a:srgbClr val="188782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NORMALIZE</a:t>
              </a:r>
            </a:p>
          </p:txBody>
        </p:sp>
      </p:grpSp>
      <p:sp>
        <p:nvSpPr>
          <p:cNvPr id="122" name="Connector 15366"/>
          <p:cNvSpPr/>
          <p:nvPr/>
        </p:nvSpPr>
        <p:spPr>
          <a:xfrm>
            <a:off x="4784873" y="2517648"/>
            <a:ext cx="475488" cy="1"/>
          </a:xfrm>
          <a:prstGeom prst="line">
            <a:avLst/>
          </a:prstGeom>
          <a:ln w="19050">
            <a:solidFill>
              <a:srgbClr val="5F69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grpSp>
        <p:nvGrpSpPr>
          <p:cNvPr id="125" name="Rounded Rectangle 15367"/>
          <p:cNvGrpSpPr/>
          <p:nvPr/>
        </p:nvGrpSpPr>
        <p:grpSpPr>
          <a:xfrm>
            <a:off x="5260361" y="2087879"/>
            <a:ext cx="1783081" cy="868681"/>
            <a:chOff x="0" y="0"/>
            <a:chExt cx="1783079" cy="868680"/>
          </a:xfrm>
        </p:grpSpPr>
        <p:sp>
          <p:nvSpPr>
            <p:cNvPr id="123" name="Rounded Rectangle"/>
            <p:cNvSpPr/>
            <p:nvPr/>
          </p:nvSpPr>
          <p:spPr>
            <a:xfrm>
              <a:off x="0" y="0"/>
              <a:ext cx="1783080" cy="86868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32915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4" name="PROJECT…"/>
            <p:cNvSpPr txBox="1"/>
            <p:nvPr/>
          </p:nvSpPr>
          <p:spPr>
            <a:xfrm>
              <a:off x="94474" y="185420"/>
              <a:ext cx="1594131" cy="497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300">
                  <a:solidFill>
                    <a:srgbClr val="32915F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PROJECT</a:t>
              </a:r>
            </a:p>
            <a:p>
              <a:pPr algn="ctr">
                <a:defRPr b="1" sz="1300">
                  <a:solidFill>
                    <a:srgbClr val="32915F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INTELLIGENCE</a:t>
              </a:r>
            </a:p>
          </p:txBody>
        </p:sp>
      </p:grpSp>
      <p:sp>
        <p:nvSpPr>
          <p:cNvPr id="126" name="Connector 15368"/>
          <p:cNvSpPr/>
          <p:nvPr/>
        </p:nvSpPr>
        <p:spPr>
          <a:xfrm>
            <a:off x="7043442" y="2517648"/>
            <a:ext cx="475488" cy="1"/>
          </a:xfrm>
          <a:prstGeom prst="line">
            <a:avLst/>
          </a:prstGeom>
          <a:ln w="19050">
            <a:solidFill>
              <a:srgbClr val="5F69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grpSp>
        <p:nvGrpSpPr>
          <p:cNvPr id="129" name="Rounded Rectangle 15369"/>
          <p:cNvGrpSpPr/>
          <p:nvPr/>
        </p:nvGrpSpPr>
        <p:grpSpPr>
          <a:xfrm>
            <a:off x="7518930" y="2087879"/>
            <a:ext cx="1783081" cy="868681"/>
            <a:chOff x="0" y="0"/>
            <a:chExt cx="1783079" cy="868680"/>
          </a:xfrm>
        </p:grpSpPr>
        <p:sp>
          <p:nvSpPr>
            <p:cNvPr id="127" name="Rounded Rectangle"/>
            <p:cNvSpPr/>
            <p:nvPr/>
          </p:nvSpPr>
          <p:spPr>
            <a:xfrm>
              <a:off x="0" y="0"/>
              <a:ext cx="1783080" cy="86868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E17D2D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8" name="MAP +…"/>
            <p:cNvSpPr txBox="1"/>
            <p:nvPr/>
          </p:nvSpPr>
          <p:spPr>
            <a:xfrm>
              <a:off x="94474" y="185420"/>
              <a:ext cx="1594131" cy="497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300">
                  <a:solidFill>
                    <a:srgbClr val="E17D2D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MAP +</a:t>
              </a:r>
            </a:p>
            <a:p>
              <a:pPr algn="ctr">
                <a:defRPr b="1" sz="1300">
                  <a:solidFill>
                    <a:srgbClr val="E17D2D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ANALYTICS</a:t>
              </a:r>
            </a:p>
          </p:txBody>
        </p:sp>
      </p:grpSp>
      <p:sp>
        <p:nvSpPr>
          <p:cNvPr id="130" name="Connector 15370"/>
          <p:cNvSpPr/>
          <p:nvPr/>
        </p:nvSpPr>
        <p:spPr>
          <a:xfrm>
            <a:off x="9302010" y="2517648"/>
            <a:ext cx="475488" cy="1"/>
          </a:xfrm>
          <a:prstGeom prst="line">
            <a:avLst/>
          </a:prstGeom>
          <a:ln w="19050">
            <a:solidFill>
              <a:srgbClr val="5F69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grpSp>
        <p:nvGrpSpPr>
          <p:cNvPr id="133" name="Rounded Rectangle 15371"/>
          <p:cNvGrpSpPr/>
          <p:nvPr/>
        </p:nvGrpSpPr>
        <p:grpSpPr>
          <a:xfrm>
            <a:off x="9777498" y="2087879"/>
            <a:ext cx="1783081" cy="868681"/>
            <a:chOff x="0" y="0"/>
            <a:chExt cx="1783079" cy="868680"/>
          </a:xfrm>
        </p:grpSpPr>
        <p:sp>
          <p:nvSpPr>
            <p:cNvPr id="131" name="Rounded Rectangle"/>
            <p:cNvSpPr/>
            <p:nvPr/>
          </p:nvSpPr>
          <p:spPr>
            <a:xfrm>
              <a:off x="0" y="0"/>
              <a:ext cx="1783080" cy="86868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142D4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2" name="CITIZEN /…"/>
            <p:cNvSpPr txBox="1"/>
            <p:nvPr/>
          </p:nvSpPr>
          <p:spPr>
            <a:xfrm>
              <a:off x="94474" y="185420"/>
              <a:ext cx="1594131" cy="497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300">
                  <a:solidFill>
                    <a:srgbClr val="142D4B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CITIZEN /</a:t>
              </a:r>
            </a:p>
            <a:p>
              <a:pPr algn="ctr">
                <a:defRPr b="1" sz="1300">
                  <a:solidFill>
                    <a:srgbClr val="142D4B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ADMIN INSIGHT</a:t>
              </a:r>
            </a:p>
          </p:txBody>
        </p:sp>
      </p:grpSp>
      <p:grpSp>
        <p:nvGrpSpPr>
          <p:cNvPr id="136" name="Rounded Rectangle 15372"/>
          <p:cNvGrpSpPr/>
          <p:nvPr/>
        </p:nvGrpSpPr>
        <p:grpSpPr>
          <a:xfrm>
            <a:off x="1235477" y="3199873"/>
            <a:ext cx="1051561" cy="310897"/>
            <a:chOff x="0" y="0"/>
            <a:chExt cx="1051560" cy="310895"/>
          </a:xfrm>
        </p:grpSpPr>
        <p:sp>
          <p:nvSpPr>
            <p:cNvPr id="134" name="Rounded Rectangle"/>
            <p:cNvSpPr/>
            <p:nvPr/>
          </p:nvSpPr>
          <p:spPr>
            <a:xfrm>
              <a:off x="0" y="0"/>
              <a:ext cx="1051561" cy="310896"/>
            </a:xfrm>
            <a:prstGeom prst="roundRect">
              <a:avLst>
                <a:gd name="adj" fmla="val 16667"/>
              </a:avLst>
            </a:prstGeom>
            <a:solidFill>
              <a:srgbClr val="2369AA"/>
            </a:solidFill>
            <a:ln w="12700" cap="flat">
              <a:solidFill>
                <a:srgbClr val="2369A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5" name="EXPLORE"/>
            <p:cNvSpPr txBox="1"/>
            <p:nvPr/>
          </p:nvSpPr>
          <p:spPr>
            <a:xfrm>
              <a:off x="67247" y="33527"/>
              <a:ext cx="917067" cy="243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EXPLORE</a:t>
              </a:r>
            </a:p>
          </p:txBody>
        </p:sp>
      </p:grpSp>
      <p:sp>
        <p:nvSpPr>
          <p:cNvPr id="137" name="TextBox 15373"/>
          <p:cNvSpPr txBox="1"/>
          <p:nvPr/>
        </p:nvSpPr>
        <p:spPr>
          <a:xfrm>
            <a:off x="884957" y="3540651"/>
            <a:ext cx="242316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232D3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Find projects by constituency, district, state or location.</a:t>
            </a:r>
          </a:p>
        </p:txBody>
      </p:sp>
      <p:grpSp>
        <p:nvGrpSpPr>
          <p:cNvPr id="140" name="Rounded Rectangle 15374"/>
          <p:cNvGrpSpPr/>
          <p:nvPr/>
        </p:nvGrpSpPr>
        <p:grpSpPr>
          <a:xfrm>
            <a:off x="4173749" y="3199873"/>
            <a:ext cx="1051561" cy="310897"/>
            <a:chOff x="0" y="0"/>
            <a:chExt cx="1051560" cy="310895"/>
          </a:xfrm>
        </p:grpSpPr>
        <p:sp>
          <p:nvSpPr>
            <p:cNvPr id="138" name="Rounded Rectangle"/>
            <p:cNvSpPr/>
            <p:nvPr/>
          </p:nvSpPr>
          <p:spPr>
            <a:xfrm>
              <a:off x="0" y="0"/>
              <a:ext cx="1051561" cy="310896"/>
            </a:xfrm>
            <a:prstGeom prst="roundRect">
              <a:avLst>
                <a:gd name="adj" fmla="val 16667"/>
              </a:avLst>
            </a:prstGeom>
            <a:solidFill>
              <a:srgbClr val="188782"/>
            </a:solidFill>
            <a:ln w="12700" cap="flat">
              <a:solidFill>
                <a:srgbClr val="188782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9" name="COMPARE"/>
            <p:cNvSpPr txBox="1"/>
            <p:nvPr/>
          </p:nvSpPr>
          <p:spPr>
            <a:xfrm>
              <a:off x="67247" y="33527"/>
              <a:ext cx="917067" cy="243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COMPARE</a:t>
              </a:r>
            </a:p>
          </p:txBody>
        </p:sp>
      </p:grpSp>
      <p:sp>
        <p:nvSpPr>
          <p:cNvPr id="141" name="TextBox 15375"/>
          <p:cNvSpPr txBox="1"/>
          <p:nvPr/>
        </p:nvSpPr>
        <p:spPr>
          <a:xfrm>
            <a:off x="3701309" y="3540651"/>
            <a:ext cx="242316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232D3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See how project activity and utilization differ across regions.</a:t>
            </a:r>
          </a:p>
        </p:txBody>
      </p:sp>
      <p:grpSp>
        <p:nvGrpSpPr>
          <p:cNvPr id="144" name="Rounded Rectangle 15376"/>
          <p:cNvGrpSpPr/>
          <p:nvPr/>
        </p:nvGrpSpPr>
        <p:grpSpPr>
          <a:xfrm>
            <a:off x="7112021" y="3199873"/>
            <a:ext cx="1051561" cy="310897"/>
            <a:chOff x="0" y="0"/>
            <a:chExt cx="1051560" cy="310895"/>
          </a:xfrm>
        </p:grpSpPr>
        <p:sp>
          <p:nvSpPr>
            <p:cNvPr id="142" name="Rounded Rectangle"/>
            <p:cNvSpPr/>
            <p:nvPr/>
          </p:nvSpPr>
          <p:spPr>
            <a:xfrm>
              <a:off x="0" y="0"/>
              <a:ext cx="1051561" cy="310896"/>
            </a:xfrm>
            <a:prstGeom prst="roundRect">
              <a:avLst>
                <a:gd name="adj" fmla="val 16667"/>
              </a:avLst>
            </a:prstGeom>
            <a:solidFill>
              <a:srgbClr val="32915F"/>
            </a:solidFill>
            <a:ln w="12700" cap="flat">
              <a:solidFill>
                <a:srgbClr val="32915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3" name="TRACK"/>
            <p:cNvSpPr txBox="1"/>
            <p:nvPr/>
          </p:nvSpPr>
          <p:spPr>
            <a:xfrm>
              <a:off x="67247" y="33527"/>
              <a:ext cx="917067" cy="243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TRACK</a:t>
              </a:r>
            </a:p>
          </p:txBody>
        </p:sp>
      </p:grpSp>
      <p:sp>
        <p:nvSpPr>
          <p:cNvPr id="145" name="TextBox 15377"/>
          <p:cNvSpPr txBox="1"/>
          <p:nvPr/>
        </p:nvSpPr>
        <p:spPr>
          <a:xfrm>
            <a:off x="6517661" y="3540651"/>
            <a:ext cx="242316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232D3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Follow project status, expenditure and geographic distribution.</a:t>
            </a:r>
          </a:p>
        </p:txBody>
      </p:sp>
      <p:grpSp>
        <p:nvGrpSpPr>
          <p:cNvPr id="148" name="Rounded Rectangle 15378"/>
          <p:cNvGrpSpPr/>
          <p:nvPr/>
        </p:nvGrpSpPr>
        <p:grpSpPr>
          <a:xfrm>
            <a:off x="9816613" y="3157201"/>
            <a:ext cx="1051562" cy="396241"/>
            <a:chOff x="0" y="0"/>
            <a:chExt cx="1051560" cy="396240"/>
          </a:xfrm>
        </p:grpSpPr>
        <p:sp>
          <p:nvSpPr>
            <p:cNvPr id="146" name="Rounded Rectangle"/>
            <p:cNvSpPr/>
            <p:nvPr/>
          </p:nvSpPr>
          <p:spPr>
            <a:xfrm>
              <a:off x="0" y="42671"/>
              <a:ext cx="1051561" cy="310897"/>
            </a:xfrm>
            <a:prstGeom prst="roundRect">
              <a:avLst>
                <a:gd name="adj" fmla="val 16667"/>
              </a:avLst>
            </a:prstGeom>
            <a:solidFill>
              <a:srgbClr val="E17D2D"/>
            </a:solidFill>
            <a:ln w="12700" cap="flat">
              <a:solidFill>
                <a:srgbClr val="E17D2D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7" name="FLAG PATTERNS"/>
            <p:cNvSpPr txBox="1"/>
            <p:nvPr/>
          </p:nvSpPr>
          <p:spPr>
            <a:xfrm>
              <a:off x="67247" y="-1"/>
              <a:ext cx="917067" cy="396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FLAG PATTERNS</a:t>
              </a:r>
            </a:p>
          </p:txBody>
        </p:sp>
      </p:grpSp>
      <p:sp>
        <p:nvSpPr>
          <p:cNvPr id="149" name="TextBox 15379"/>
          <p:cNvSpPr txBox="1"/>
          <p:nvPr/>
        </p:nvSpPr>
        <p:spPr>
          <a:xfrm>
            <a:off x="9334013" y="3540651"/>
            <a:ext cx="2423162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232D3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Surface unusual records that deserve a closer look.</a:t>
            </a:r>
          </a:p>
        </p:txBody>
      </p:sp>
      <p:grpSp>
        <p:nvGrpSpPr>
          <p:cNvPr id="152" name="Rounded Rectangle 15380"/>
          <p:cNvGrpSpPr/>
          <p:nvPr/>
        </p:nvGrpSpPr>
        <p:grpSpPr>
          <a:xfrm>
            <a:off x="502919" y="4617720"/>
            <a:ext cx="11155682" cy="960121"/>
            <a:chOff x="0" y="0"/>
            <a:chExt cx="11155680" cy="960119"/>
          </a:xfrm>
        </p:grpSpPr>
        <p:sp>
          <p:nvSpPr>
            <p:cNvPr id="150" name="Rounded Rectangle"/>
            <p:cNvSpPr/>
            <p:nvPr/>
          </p:nvSpPr>
          <p:spPr>
            <a:xfrm>
              <a:off x="0" y="0"/>
              <a:ext cx="11155681" cy="960120"/>
            </a:xfrm>
            <a:prstGeom prst="roundRect">
              <a:avLst>
                <a:gd name="adj" fmla="val 16667"/>
              </a:avLst>
            </a:prstGeom>
            <a:solidFill>
              <a:srgbClr val="F2F6F9"/>
            </a:solidFill>
            <a:ln w="12700" cap="flat">
              <a:solidFill>
                <a:srgbClr val="D7E1E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51" name="WHY IT MATTERS  •  Raw records can exist without being truly accessible.…"/>
            <p:cNvSpPr txBox="1"/>
            <p:nvPr/>
          </p:nvSpPr>
          <p:spPr>
            <a:xfrm>
              <a:off x="98939" y="205739"/>
              <a:ext cx="10957802" cy="548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500">
                  <a:solidFill>
                    <a:srgbClr val="142D4B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WHY IT MATTERS  •  Raw records can exist without being truly accessible.</a:t>
              </a:r>
            </a:p>
            <a:p>
              <a:pPr algn="ctr">
                <a:defRPr b="1" sz="1500">
                  <a:solidFill>
                    <a:srgbClr val="142D4B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InfraSight connects the data, the geography and the story behind each project.</a:t>
              </a:r>
            </a:p>
          </p:txBody>
        </p:sp>
      </p:grpSp>
      <p:pic>
        <p:nvPicPr>
          <p:cNvPr id="153" name="WhatsApp Image 2026-09-07 at 23.09.04.jpeg" descr="WhatsApp Image 2026-09-07 at 23.09.04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855758" y="16320"/>
            <a:ext cx="2286001" cy="11557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Footer Placeholder 6"/>
          <p:cNvSpPr txBox="1"/>
          <p:nvPr/>
        </p:nvSpPr>
        <p:spPr>
          <a:xfrm>
            <a:off x="4693920" y="6404295"/>
            <a:ext cx="31125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r>
              <a:t>@SIH Idea submission- Template</a:t>
            </a:r>
          </a:p>
        </p:txBody>
      </p:sp>
      <p:sp>
        <p:nvSpPr>
          <p:cNvPr id="156" name="Rectangle 9"/>
          <p:cNvSpPr/>
          <p:nvPr/>
        </p:nvSpPr>
        <p:spPr>
          <a:xfrm>
            <a:off x="-1" y="6354762"/>
            <a:ext cx="12192001" cy="503239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99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953735"/>
                </a:solidFill>
              </a:defRPr>
            </a:pPr>
          </a:p>
        </p:txBody>
      </p:sp>
      <p:sp>
        <p:nvSpPr>
          <p:cNvPr id="157" name="Title 1"/>
          <p:cNvSpPr txBox="1"/>
          <p:nvPr>
            <p:ph type="title"/>
          </p:nvPr>
        </p:nvSpPr>
        <p:spPr>
          <a:xfrm>
            <a:off x="1691668" y="57096"/>
            <a:ext cx="10972801" cy="1002484"/>
          </a:xfrm>
          <a:prstGeom prst="rect">
            <a:avLst/>
          </a:prstGeom>
        </p:spPr>
        <p:txBody>
          <a:bodyPr/>
          <a:lstStyle>
            <a:lvl1pPr algn="l">
              <a:defRPr b="1" sz="2400" u="sng">
                <a:solidFill>
                  <a:srgbClr val="142D4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TECHNICAL APPROACH</a:t>
            </a:r>
          </a:p>
        </p:txBody>
      </p:sp>
      <p:sp>
        <p:nvSpPr>
          <p:cNvPr id="158" name="Slide Number Placeholder 5"/>
          <p:cNvSpPr txBox="1"/>
          <p:nvPr>
            <p:ph type="sldNum" sz="quarter" idx="2"/>
          </p:nvPr>
        </p:nvSpPr>
        <p:spPr>
          <a:xfrm>
            <a:off x="11393502" y="6404295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pic>
        <p:nvPicPr>
          <p:cNvPr id="15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841365" y="57096"/>
            <a:ext cx="2209121" cy="1122869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TextBox 17410"/>
          <p:cNvSpPr txBox="1"/>
          <p:nvPr/>
        </p:nvSpPr>
        <p:spPr>
          <a:xfrm>
            <a:off x="274319" y="1148684"/>
            <a:ext cx="1097280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142D4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Preserve the source, make it reliable, then make it useful.</a:t>
            </a:r>
          </a:p>
        </p:txBody>
      </p:sp>
      <p:grpSp>
        <p:nvGrpSpPr>
          <p:cNvPr id="163" name="Rounded Rectangle 17411"/>
          <p:cNvGrpSpPr/>
          <p:nvPr/>
        </p:nvGrpSpPr>
        <p:grpSpPr>
          <a:xfrm>
            <a:off x="777516" y="1704022"/>
            <a:ext cx="1572769" cy="713233"/>
            <a:chOff x="0" y="0"/>
            <a:chExt cx="1572767" cy="713231"/>
          </a:xfrm>
        </p:grpSpPr>
        <p:sp>
          <p:nvSpPr>
            <p:cNvPr id="161" name="Rounded Rectangle"/>
            <p:cNvSpPr/>
            <p:nvPr/>
          </p:nvSpPr>
          <p:spPr>
            <a:xfrm>
              <a:off x="0" y="0"/>
              <a:ext cx="1572768" cy="71323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2369A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2" name="MPLADS MIS"/>
            <p:cNvSpPr txBox="1"/>
            <p:nvPr/>
          </p:nvSpPr>
          <p:spPr>
            <a:xfrm>
              <a:off x="86886" y="209295"/>
              <a:ext cx="1398996" cy="294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300">
                  <a:solidFill>
                    <a:srgbClr val="142D4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MPLADS MIS</a:t>
              </a:r>
            </a:p>
          </p:txBody>
        </p:sp>
      </p:grpSp>
      <p:sp>
        <p:nvSpPr>
          <p:cNvPr id="164" name="TextBox 17412"/>
          <p:cNvSpPr txBox="1"/>
          <p:nvPr/>
        </p:nvSpPr>
        <p:spPr>
          <a:xfrm>
            <a:off x="823236" y="2398966"/>
            <a:ext cx="148132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5F697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Source</a:t>
            </a:r>
          </a:p>
        </p:txBody>
      </p:sp>
      <p:sp>
        <p:nvSpPr>
          <p:cNvPr id="165" name="Connector 17413"/>
          <p:cNvSpPr/>
          <p:nvPr/>
        </p:nvSpPr>
        <p:spPr>
          <a:xfrm>
            <a:off x="2350284" y="2051494"/>
            <a:ext cx="301752" cy="1"/>
          </a:xfrm>
          <a:prstGeom prst="line">
            <a:avLst/>
          </a:prstGeom>
          <a:ln w="17780">
            <a:solidFill>
              <a:srgbClr val="5F69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grpSp>
        <p:nvGrpSpPr>
          <p:cNvPr id="168" name="Rounded Rectangle 17414"/>
          <p:cNvGrpSpPr/>
          <p:nvPr/>
        </p:nvGrpSpPr>
        <p:grpSpPr>
          <a:xfrm>
            <a:off x="2652035" y="1704022"/>
            <a:ext cx="1572769" cy="713233"/>
            <a:chOff x="0" y="0"/>
            <a:chExt cx="1572767" cy="713231"/>
          </a:xfrm>
        </p:grpSpPr>
        <p:sp>
          <p:nvSpPr>
            <p:cNvPr id="166" name="Rounded Rectangle"/>
            <p:cNvSpPr/>
            <p:nvPr/>
          </p:nvSpPr>
          <p:spPr>
            <a:xfrm>
              <a:off x="0" y="0"/>
              <a:ext cx="1572768" cy="71323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2369A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7" name="Data Acquisition"/>
            <p:cNvSpPr txBox="1"/>
            <p:nvPr/>
          </p:nvSpPr>
          <p:spPr>
            <a:xfrm>
              <a:off x="86886" y="209295"/>
              <a:ext cx="1398996" cy="294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300">
                  <a:solidFill>
                    <a:srgbClr val="142D4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Data Acquisition</a:t>
              </a:r>
            </a:p>
          </p:txBody>
        </p:sp>
      </p:grpSp>
      <p:sp>
        <p:nvSpPr>
          <p:cNvPr id="169" name="TextBox 17415"/>
          <p:cNvSpPr txBox="1"/>
          <p:nvPr/>
        </p:nvSpPr>
        <p:spPr>
          <a:xfrm>
            <a:off x="2697755" y="2398966"/>
            <a:ext cx="148132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5F697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Retrieve</a:t>
            </a:r>
          </a:p>
        </p:txBody>
      </p:sp>
      <p:sp>
        <p:nvSpPr>
          <p:cNvPr id="170" name="Connector 17416"/>
          <p:cNvSpPr/>
          <p:nvPr/>
        </p:nvSpPr>
        <p:spPr>
          <a:xfrm>
            <a:off x="4224802" y="2051494"/>
            <a:ext cx="301753" cy="1"/>
          </a:xfrm>
          <a:prstGeom prst="line">
            <a:avLst/>
          </a:prstGeom>
          <a:ln w="17780">
            <a:solidFill>
              <a:srgbClr val="5F69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grpSp>
        <p:nvGrpSpPr>
          <p:cNvPr id="173" name="Rounded Rectangle 17417"/>
          <p:cNvGrpSpPr/>
          <p:nvPr/>
        </p:nvGrpSpPr>
        <p:grpSpPr>
          <a:xfrm>
            <a:off x="4526555" y="1704022"/>
            <a:ext cx="1572769" cy="713233"/>
            <a:chOff x="0" y="0"/>
            <a:chExt cx="1572767" cy="713231"/>
          </a:xfrm>
        </p:grpSpPr>
        <p:sp>
          <p:nvSpPr>
            <p:cNvPr id="171" name="Rounded Rectangle"/>
            <p:cNvSpPr/>
            <p:nvPr/>
          </p:nvSpPr>
          <p:spPr>
            <a:xfrm>
              <a:off x="0" y="0"/>
              <a:ext cx="1572768" cy="71323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2369A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2" name="Raw Snapshot"/>
            <p:cNvSpPr txBox="1"/>
            <p:nvPr/>
          </p:nvSpPr>
          <p:spPr>
            <a:xfrm>
              <a:off x="86886" y="209295"/>
              <a:ext cx="1398996" cy="294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300">
                  <a:solidFill>
                    <a:srgbClr val="142D4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Raw Snapshot</a:t>
              </a:r>
            </a:p>
          </p:txBody>
        </p:sp>
      </p:grpSp>
      <p:sp>
        <p:nvSpPr>
          <p:cNvPr id="174" name="TextBox 17418"/>
          <p:cNvSpPr txBox="1"/>
          <p:nvPr/>
        </p:nvSpPr>
        <p:spPr>
          <a:xfrm>
            <a:off x="4572275" y="2398966"/>
            <a:ext cx="148132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5F697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Preserve</a:t>
            </a:r>
          </a:p>
        </p:txBody>
      </p:sp>
      <p:sp>
        <p:nvSpPr>
          <p:cNvPr id="175" name="Connector 17419"/>
          <p:cNvSpPr/>
          <p:nvPr/>
        </p:nvSpPr>
        <p:spPr>
          <a:xfrm>
            <a:off x="6099323" y="2051494"/>
            <a:ext cx="301753" cy="1"/>
          </a:xfrm>
          <a:prstGeom prst="line">
            <a:avLst/>
          </a:prstGeom>
          <a:ln w="17780">
            <a:solidFill>
              <a:srgbClr val="5F69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grpSp>
        <p:nvGrpSpPr>
          <p:cNvPr id="178" name="Rounded Rectangle 17420"/>
          <p:cNvGrpSpPr/>
          <p:nvPr/>
        </p:nvGrpSpPr>
        <p:grpSpPr>
          <a:xfrm>
            <a:off x="6401075" y="1704022"/>
            <a:ext cx="1572769" cy="713233"/>
            <a:chOff x="0" y="0"/>
            <a:chExt cx="1572767" cy="713231"/>
          </a:xfrm>
        </p:grpSpPr>
        <p:sp>
          <p:nvSpPr>
            <p:cNvPr id="176" name="Rounded Rectangle"/>
            <p:cNvSpPr/>
            <p:nvPr/>
          </p:nvSpPr>
          <p:spPr>
            <a:xfrm>
              <a:off x="0" y="0"/>
              <a:ext cx="1572768" cy="71323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2369A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7" name="Clean + Normalize"/>
            <p:cNvSpPr txBox="1"/>
            <p:nvPr/>
          </p:nvSpPr>
          <p:spPr>
            <a:xfrm>
              <a:off x="86886" y="107695"/>
              <a:ext cx="1398996" cy="497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300">
                  <a:solidFill>
                    <a:srgbClr val="142D4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Clean + Normalize</a:t>
              </a:r>
            </a:p>
          </p:txBody>
        </p:sp>
      </p:grpSp>
      <p:sp>
        <p:nvSpPr>
          <p:cNvPr id="179" name="TextBox 17421"/>
          <p:cNvSpPr txBox="1"/>
          <p:nvPr/>
        </p:nvSpPr>
        <p:spPr>
          <a:xfrm>
            <a:off x="6446795" y="2398966"/>
            <a:ext cx="148132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5F697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Prepare</a:t>
            </a:r>
          </a:p>
        </p:txBody>
      </p:sp>
      <p:sp>
        <p:nvSpPr>
          <p:cNvPr id="180" name="Connector 17422"/>
          <p:cNvSpPr/>
          <p:nvPr/>
        </p:nvSpPr>
        <p:spPr>
          <a:xfrm>
            <a:off x="7973844" y="2051494"/>
            <a:ext cx="301753" cy="1"/>
          </a:xfrm>
          <a:prstGeom prst="line">
            <a:avLst/>
          </a:prstGeom>
          <a:ln w="17780">
            <a:solidFill>
              <a:srgbClr val="5F69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grpSp>
        <p:nvGrpSpPr>
          <p:cNvPr id="183" name="Rounded Rectangle 17423"/>
          <p:cNvGrpSpPr/>
          <p:nvPr/>
        </p:nvGrpSpPr>
        <p:grpSpPr>
          <a:xfrm>
            <a:off x="8275596" y="1704022"/>
            <a:ext cx="1572769" cy="713233"/>
            <a:chOff x="0" y="0"/>
            <a:chExt cx="1572767" cy="713231"/>
          </a:xfrm>
        </p:grpSpPr>
        <p:sp>
          <p:nvSpPr>
            <p:cNvPr id="181" name="Rounded Rectangle"/>
            <p:cNvSpPr/>
            <p:nvPr/>
          </p:nvSpPr>
          <p:spPr>
            <a:xfrm>
              <a:off x="0" y="0"/>
              <a:ext cx="1572768" cy="71323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2369A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2" name="Validate"/>
            <p:cNvSpPr txBox="1"/>
            <p:nvPr/>
          </p:nvSpPr>
          <p:spPr>
            <a:xfrm>
              <a:off x="86886" y="209295"/>
              <a:ext cx="1398996" cy="294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300">
                  <a:solidFill>
                    <a:srgbClr val="142D4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Validate</a:t>
              </a:r>
            </a:p>
          </p:txBody>
        </p:sp>
      </p:grpSp>
      <p:sp>
        <p:nvSpPr>
          <p:cNvPr id="184" name="TextBox 17424"/>
          <p:cNvSpPr txBox="1"/>
          <p:nvPr/>
        </p:nvSpPr>
        <p:spPr>
          <a:xfrm>
            <a:off x="8321316" y="2398966"/>
            <a:ext cx="148132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5F697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Check</a:t>
            </a:r>
          </a:p>
        </p:txBody>
      </p:sp>
      <p:sp>
        <p:nvSpPr>
          <p:cNvPr id="185" name="Connector 17425"/>
          <p:cNvSpPr/>
          <p:nvPr/>
        </p:nvSpPr>
        <p:spPr>
          <a:xfrm>
            <a:off x="9848364" y="2051494"/>
            <a:ext cx="301753" cy="1"/>
          </a:xfrm>
          <a:prstGeom prst="line">
            <a:avLst/>
          </a:prstGeom>
          <a:ln w="17780">
            <a:solidFill>
              <a:srgbClr val="5F69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grpSp>
        <p:nvGrpSpPr>
          <p:cNvPr id="188" name="Rounded Rectangle 17426"/>
          <p:cNvGrpSpPr/>
          <p:nvPr/>
        </p:nvGrpSpPr>
        <p:grpSpPr>
          <a:xfrm>
            <a:off x="10150116" y="1704022"/>
            <a:ext cx="1572769" cy="713233"/>
            <a:chOff x="0" y="0"/>
            <a:chExt cx="1572767" cy="713231"/>
          </a:xfrm>
        </p:grpSpPr>
        <p:sp>
          <p:nvSpPr>
            <p:cNvPr id="186" name="Rounded Rectangle"/>
            <p:cNvSpPr/>
            <p:nvPr/>
          </p:nvSpPr>
          <p:spPr>
            <a:xfrm>
              <a:off x="0" y="0"/>
              <a:ext cx="1572768" cy="71323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2369A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7" name="Project DB"/>
            <p:cNvSpPr txBox="1"/>
            <p:nvPr/>
          </p:nvSpPr>
          <p:spPr>
            <a:xfrm>
              <a:off x="86886" y="209295"/>
              <a:ext cx="1398996" cy="294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300">
                  <a:solidFill>
                    <a:srgbClr val="142D4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Project DB</a:t>
              </a:r>
            </a:p>
          </p:txBody>
        </p:sp>
      </p:grpSp>
      <p:sp>
        <p:nvSpPr>
          <p:cNvPr id="189" name="TextBox 17427"/>
          <p:cNvSpPr txBox="1"/>
          <p:nvPr/>
        </p:nvSpPr>
        <p:spPr>
          <a:xfrm>
            <a:off x="9904338" y="2253043"/>
            <a:ext cx="148132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5F697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Store</a:t>
            </a:r>
          </a:p>
        </p:txBody>
      </p:sp>
      <p:grpSp>
        <p:nvGrpSpPr>
          <p:cNvPr id="192" name="Rounded Rectangle 17428"/>
          <p:cNvGrpSpPr/>
          <p:nvPr/>
        </p:nvGrpSpPr>
        <p:grpSpPr>
          <a:xfrm>
            <a:off x="9261478" y="2926460"/>
            <a:ext cx="2240281" cy="713233"/>
            <a:chOff x="0" y="0"/>
            <a:chExt cx="2240279" cy="713231"/>
          </a:xfrm>
        </p:grpSpPr>
        <p:sp>
          <p:nvSpPr>
            <p:cNvPr id="190" name="Rounded Rectangle"/>
            <p:cNvSpPr/>
            <p:nvPr/>
          </p:nvSpPr>
          <p:spPr>
            <a:xfrm>
              <a:off x="0" y="0"/>
              <a:ext cx="2240280" cy="713232"/>
            </a:xfrm>
            <a:prstGeom prst="roundRect">
              <a:avLst>
                <a:gd name="adj" fmla="val 16667"/>
              </a:avLst>
            </a:prstGeom>
            <a:solidFill>
              <a:srgbClr val="F2F6F9"/>
            </a:solidFill>
            <a:ln w="12700" cap="flat">
              <a:solidFill>
                <a:srgbClr val="E17D2D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1" name="Analytics / anomaly signals"/>
            <p:cNvSpPr txBox="1"/>
            <p:nvPr/>
          </p:nvSpPr>
          <p:spPr>
            <a:xfrm>
              <a:off x="86887" y="107695"/>
              <a:ext cx="2066506" cy="497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300">
                  <a:solidFill>
                    <a:srgbClr val="E17D2D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Analytics / anomaly signals</a:t>
              </a:r>
            </a:p>
          </p:txBody>
        </p:sp>
      </p:grpSp>
      <p:grpSp>
        <p:nvGrpSpPr>
          <p:cNvPr id="195" name="Rounded Rectangle 17429"/>
          <p:cNvGrpSpPr/>
          <p:nvPr/>
        </p:nvGrpSpPr>
        <p:grpSpPr>
          <a:xfrm>
            <a:off x="6191039" y="2923222"/>
            <a:ext cx="2240281" cy="713233"/>
            <a:chOff x="0" y="0"/>
            <a:chExt cx="2240279" cy="713231"/>
          </a:xfrm>
        </p:grpSpPr>
        <p:sp>
          <p:nvSpPr>
            <p:cNvPr id="193" name="Rounded Rectangle"/>
            <p:cNvSpPr/>
            <p:nvPr/>
          </p:nvSpPr>
          <p:spPr>
            <a:xfrm>
              <a:off x="0" y="0"/>
              <a:ext cx="2240280" cy="713232"/>
            </a:xfrm>
            <a:prstGeom prst="roundRect">
              <a:avLst>
                <a:gd name="adj" fmla="val 16667"/>
              </a:avLst>
            </a:prstGeom>
            <a:solidFill>
              <a:srgbClr val="F2F6F9"/>
            </a:solidFill>
            <a:ln w="12700" cap="flat">
              <a:solidFill>
                <a:srgbClr val="188782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4" name="Geospatial layer"/>
            <p:cNvSpPr txBox="1"/>
            <p:nvPr/>
          </p:nvSpPr>
          <p:spPr>
            <a:xfrm>
              <a:off x="86887" y="209295"/>
              <a:ext cx="2066506" cy="294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300">
                  <a:solidFill>
                    <a:srgbClr val="188782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Geospatial layer</a:t>
              </a:r>
            </a:p>
          </p:txBody>
        </p:sp>
      </p:grpSp>
      <p:grpSp>
        <p:nvGrpSpPr>
          <p:cNvPr id="198" name="Rounded Rectangle 17430"/>
          <p:cNvGrpSpPr/>
          <p:nvPr/>
        </p:nvGrpSpPr>
        <p:grpSpPr>
          <a:xfrm>
            <a:off x="3120600" y="2926460"/>
            <a:ext cx="2240281" cy="713233"/>
            <a:chOff x="0" y="0"/>
            <a:chExt cx="2240279" cy="713231"/>
          </a:xfrm>
        </p:grpSpPr>
        <p:sp>
          <p:nvSpPr>
            <p:cNvPr id="196" name="Rounded Rectangle"/>
            <p:cNvSpPr/>
            <p:nvPr/>
          </p:nvSpPr>
          <p:spPr>
            <a:xfrm>
              <a:off x="0" y="0"/>
              <a:ext cx="2240280" cy="713232"/>
            </a:xfrm>
            <a:prstGeom prst="roundRect">
              <a:avLst>
                <a:gd name="adj" fmla="val 16667"/>
              </a:avLst>
            </a:prstGeom>
            <a:solidFill>
              <a:srgbClr val="F2F6F9"/>
            </a:solidFill>
            <a:ln w="12700" cap="flat">
              <a:solidFill>
                <a:srgbClr val="2369A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7" name="Backend APIs"/>
            <p:cNvSpPr txBox="1"/>
            <p:nvPr/>
          </p:nvSpPr>
          <p:spPr>
            <a:xfrm>
              <a:off x="86887" y="209295"/>
              <a:ext cx="2066506" cy="294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300">
                  <a:solidFill>
                    <a:srgbClr val="2369A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Backend APIs</a:t>
              </a:r>
            </a:p>
          </p:txBody>
        </p:sp>
      </p:grpSp>
      <p:grpSp>
        <p:nvGrpSpPr>
          <p:cNvPr id="201" name="Rounded Rectangle 17431"/>
          <p:cNvGrpSpPr/>
          <p:nvPr/>
        </p:nvGrpSpPr>
        <p:grpSpPr>
          <a:xfrm>
            <a:off x="690240" y="2926460"/>
            <a:ext cx="1600201" cy="713233"/>
            <a:chOff x="0" y="0"/>
            <a:chExt cx="1600200" cy="713231"/>
          </a:xfrm>
        </p:grpSpPr>
        <p:sp>
          <p:nvSpPr>
            <p:cNvPr id="199" name="Rounded Rectangle"/>
            <p:cNvSpPr/>
            <p:nvPr/>
          </p:nvSpPr>
          <p:spPr>
            <a:xfrm>
              <a:off x="0" y="0"/>
              <a:ext cx="1600200" cy="713232"/>
            </a:xfrm>
            <a:prstGeom prst="roundRect">
              <a:avLst>
                <a:gd name="adj" fmla="val 16667"/>
              </a:avLst>
            </a:prstGeom>
            <a:solidFill>
              <a:srgbClr val="142D4B"/>
            </a:solidFill>
            <a:ln w="12700" cap="flat">
              <a:solidFill>
                <a:srgbClr val="142D4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0" name="Dashboard + Map"/>
            <p:cNvSpPr txBox="1"/>
            <p:nvPr/>
          </p:nvSpPr>
          <p:spPr>
            <a:xfrm>
              <a:off x="86887" y="221995"/>
              <a:ext cx="1426427" cy="269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2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Dashboard + Map</a:t>
              </a:r>
            </a:p>
          </p:txBody>
        </p:sp>
      </p:grpSp>
      <p:sp>
        <p:nvSpPr>
          <p:cNvPr id="218" name="Connector 17434"/>
          <p:cNvSpPr/>
          <p:nvPr/>
        </p:nvSpPr>
        <p:spPr>
          <a:xfrm>
            <a:off x="5367309" y="3281026"/>
            <a:ext cx="817381" cy="8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21600"/>
                </a:lnTo>
              </a:path>
            </a:pathLst>
          </a:custGeom>
          <a:ln w="19050">
            <a:solidFill>
              <a:srgbClr val="2369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219" name="Connector 17435"/>
          <p:cNvSpPr/>
          <p:nvPr/>
        </p:nvSpPr>
        <p:spPr>
          <a:xfrm>
            <a:off x="2296790" y="3283076"/>
            <a:ext cx="817461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0" fill="norm" stroke="1" extrusionOk="0">
                <a:moveTo>
                  <a:pt x="21600" y="0"/>
                </a:moveTo>
                <a:cubicBezTo>
                  <a:pt x="14400" y="0"/>
                  <a:pt x="7200" y="0"/>
                  <a:pt x="0" y="0"/>
                </a:cubicBezTo>
              </a:path>
            </a:pathLst>
          </a:custGeom>
          <a:ln w="19050">
            <a:solidFill>
              <a:srgbClr val="2369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grpSp>
        <p:nvGrpSpPr>
          <p:cNvPr id="206" name="Rounded Rectangle 17436"/>
          <p:cNvGrpSpPr/>
          <p:nvPr/>
        </p:nvGrpSpPr>
        <p:grpSpPr>
          <a:xfrm>
            <a:off x="1104503" y="4327098"/>
            <a:ext cx="1417321" cy="310897"/>
            <a:chOff x="0" y="0"/>
            <a:chExt cx="1417319" cy="310895"/>
          </a:xfrm>
        </p:grpSpPr>
        <p:sp>
          <p:nvSpPr>
            <p:cNvPr id="204" name="Rounded Rectangle"/>
            <p:cNvSpPr/>
            <p:nvPr/>
          </p:nvSpPr>
          <p:spPr>
            <a:xfrm>
              <a:off x="0" y="0"/>
              <a:ext cx="1417320" cy="310896"/>
            </a:xfrm>
            <a:prstGeom prst="roundRect">
              <a:avLst>
                <a:gd name="adj" fmla="val 16667"/>
              </a:avLst>
            </a:prstGeom>
            <a:solidFill>
              <a:srgbClr val="142D4B"/>
            </a:solidFill>
            <a:ln w="12700" cap="flat">
              <a:solidFill>
                <a:srgbClr val="142D4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5" name="PLANNED STACK"/>
            <p:cNvSpPr txBox="1"/>
            <p:nvPr/>
          </p:nvSpPr>
          <p:spPr>
            <a:xfrm>
              <a:off x="67246" y="33527"/>
              <a:ext cx="1282828" cy="243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PLANNED STACK</a:t>
              </a:r>
            </a:p>
          </p:txBody>
        </p:sp>
      </p:grpSp>
      <p:sp>
        <p:nvSpPr>
          <p:cNvPr id="207" name="TextBox 17437"/>
          <p:cNvSpPr txBox="1"/>
          <p:nvPr/>
        </p:nvSpPr>
        <p:spPr>
          <a:xfrm>
            <a:off x="1173082" y="4707811"/>
            <a:ext cx="5029201" cy="100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500">
                <a:solidFill>
                  <a:srgbClr val="232D37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Python - </a:t>
            </a:r>
            <a:r>
              <a:rPr b="0"/>
              <a:t>Ingestion, processing &amp; analytics</a:t>
            </a:r>
          </a:p>
          <a:p>
            <a:pPr>
              <a:defRPr b="1" sz="1500">
                <a:solidFill>
                  <a:srgbClr val="232D37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PostgreSQL/PostGIS - </a:t>
            </a:r>
            <a:r>
              <a:rPr b="0"/>
              <a:t>Project &amp; geospatial data</a:t>
            </a:r>
          </a:p>
          <a:p>
            <a:pPr>
              <a:defRPr b="1" sz="1500">
                <a:solidFill>
                  <a:srgbClr val="232D37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FastAPI - </a:t>
            </a:r>
            <a:r>
              <a:rPr b="0"/>
              <a:t>Backend APIs</a:t>
            </a:r>
          </a:p>
          <a:p>
            <a:pPr>
              <a:defRPr b="1" sz="1500">
                <a:solidFill>
                  <a:srgbClr val="232D37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Interactive Web Frontend - </a:t>
            </a:r>
            <a:r>
              <a:rPr b="0"/>
              <a:t>Dashboard, maps &amp; insights</a:t>
            </a:r>
          </a:p>
        </p:txBody>
      </p:sp>
      <p:grpSp>
        <p:nvGrpSpPr>
          <p:cNvPr id="210" name="Rounded Rectangle 17438"/>
          <p:cNvGrpSpPr/>
          <p:nvPr/>
        </p:nvGrpSpPr>
        <p:grpSpPr>
          <a:xfrm>
            <a:off x="6636622" y="4327098"/>
            <a:ext cx="1874520" cy="310897"/>
            <a:chOff x="0" y="0"/>
            <a:chExt cx="1874518" cy="310895"/>
          </a:xfrm>
        </p:grpSpPr>
        <p:sp>
          <p:nvSpPr>
            <p:cNvPr id="208" name="Rounded Rectangle"/>
            <p:cNvSpPr/>
            <p:nvPr/>
          </p:nvSpPr>
          <p:spPr>
            <a:xfrm>
              <a:off x="0" y="0"/>
              <a:ext cx="1874519" cy="310896"/>
            </a:xfrm>
            <a:prstGeom prst="roundRect">
              <a:avLst>
                <a:gd name="adj" fmla="val 16667"/>
              </a:avLst>
            </a:prstGeom>
            <a:solidFill>
              <a:srgbClr val="188782"/>
            </a:solidFill>
            <a:ln w="12700" cap="flat">
              <a:solidFill>
                <a:srgbClr val="188782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9" name="BUILT FOR TRUST"/>
            <p:cNvSpPr txBox="1"/>
            <p:nvPr/>
          </p:nvSpPr>
          <p:spPr>
            <a:xfrm>
              <a:off x="67247" y="33527"/>
              <a:ext cx="1740025" cy="243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BUILT FOR TRUST</a:t>
              </a:r>
            </a:p>
          </p:txBody>
        </p:sp>
      </p:grpSp>
      <p:sp>
        <p:nvSpPr>
          <p:cNvPr id="211" name="TextBox 17439"/>
          <p:cNvSpPr txBox="1"/>
          <p:nvPr/>
        </p:nvSpPr>
        <p:spPr>
          <a:xfrm>
            <a:off x="6682343" y="4692858"/>
            <a:ext cx="4405155" cy="929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232D37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Keep raw snapshots for traceability</a:t>
            </a:r>
          </a:p>
          <a:p>
            <a:pPr>
              <a:spcBef>
                <a:spcPts val="600"/>
              </a:spcBef>
              <a:defRPr sz="1500">
                <a:solidFill>
                  <a:srgbClr val="232D37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Validate before analysis</a:t>
            </a:r>
          </a:p>
          <a:p>
            <a:pPr>
              <a:spcBef>
                <a:spcPts val="600"/>
              </a:spcBef>
              <a:defRPr sz="1500">
                <a:solidFill>
                  <a:srgbClr val="232D37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Treat anomaly flags as signals — not accusations</a:t>
            </a:r>
          </a:p>
        </p:txBody>
      </p:sp>
      <p:sp>
        <p:nvSpPr>
          <p:cNvPr id="220" name="Straight Arrow Connector 59"/>
          <p:cNvSpPr/>
          <p:nvPr/>
        </p:nvSpPr>
        <p:spPr>
          <a:xfrm>
            <a:off x="10487632" y="2509583"/>
            <a:ext cx="119906" cy="4105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21600"/>
                </a:lnTo>
              </a:path>
            </a:pathLst>
          </a:custGeom>
          <a:ln w="254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221" name="Straight Arrow Connector 61"/>
          <p:cNvSpPr/>
          <p:nvPr/>
        </p:nvSpPr>
        <p:spPr>
          <a:xfrm>
            <a:off x="8421484" y="2509583"/>
            <a:ext cx="1747595" cy="4710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21600"/>
                </a:lnTo>
              </a:path>
            </a:pathLst>
          </a:custGeom>
          <a:ln w="254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pic>
        <p:nvPicPr>
          <p:cNvPr id="214" name="WhatsApp Image 2026-09-07 at 23.09.04.jpeg" descr="WhatsApp Image 2026-09-07 at 23.09.04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855758" y="16320"/>
            <a:ext cx="2286001" cy="11557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17" name="Oval 9"/>
          <p:cNvGrpSpPr/>
          <p:nvPr/>
        </p:nvGrpSpPr>
        <p:grpSpPr>
          <a:xfrm>
            <a:off x="231571" y="152491"/>
            <a:ext cx="1258620" cy="811695"/>
            <a:chOff x="0" y="0"/>
            <a:chExt cx="1258619" cy="811694"/>
          </a:xfrm>
        </p:grpSpPr>
        <p:sp>
          <p:nvSpPr>
            <p:cNvPr id="215" name="Oval"/>
            <p:cNvSpPr/>
            <p:nvPr/>
          </p:nvSpPr>
          <p:spPr>
            <a:xfrm>
              <a:off x="0" y="-1"/>
              <a:ext cx="1258620" cy="811696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16" name="InfraSight"/>
            <p:cNvSpPr txBox="1"/>
            <p:nvPr/>
          </p:nvSpPr>
          <p:spPr>
            <a:xfrm>
              <a:off x="45392" y="120289"/>
              <a:ext cx="1167835" cy="5711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b="1" sz="1500">
                  <a:solidFill>
                    <a:srgbClr val="142D4B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InfraSight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Footer Placeholder 6"/>
          <p:cNvSpPr txBox="1"/>
          <p:nvPr/>
        </p:nvSpPr>
        <p:spPr>
          <a:xfrm>
            <a:off x="4693920" y="6404295"/>
            <a:ext cx="31125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r>
              <a:t>@SIH Idea submission- Template</a:t>
            </a:r>
          </a:p>
        </p:txBody>
      </p:sp>
      <p:sp>
        <p:nvSpPr>
          <p:cNvPr id="224" name="Rectangle 9"/>
          <p:cNvSpPr/>
          <p:nvPr/>
        </p:nvSpPr>
        <p:spPr>
          <a:xfrm>
            <a:off x="-1" y="6354762"/>
            <a:ext cx="12192001" cy="503239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99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953735"/>
                </a:solidFill>
              </a:defRPr>
            </a:pPr>
          </a:p>
        </p:txBody>
      </p:sp>
      <p:sp>
        <p:nvSpPr>
          <p:cNvPr id="225" name="Title 1"/>
          <p:cNvSpPr txBox="1"/>
          <p:nvPr>
            <p:ph type="title"/>
          </p:nvPr>
        </p:nvSpPr>
        <p:spPr>
          <a:xfrm>
            <a:off x="1697064" y="57096"/>
            <a:ext cx="10672189" cy="1059581"/>
          </a:xfrm>
          <a:prstGeom prst="rect">
            <a:avLst/>
          </a:prstGeom>
        </p:spPr>
        <p:txBody>
          <a:bodyPr/>
          <a:lstStyle>
            <a:lvl1pPr algn="l">
              <a:defRPr b="1" sz="2400" u="sng">
                <a:solidFill>
                  <a:srgbClr val="142D4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FEASIBILITY AND VIABILITY</a:t>
            </a:r>
          </a:p>
        </p:txBody>
      </p:sp>
      <p:sp>
        <p:nvSpPr>
          <p:cNvPr id="226" name="Slide Number Placeholder 5"/>
          <p:cNvSpPr txBox="1"/>
          <p:nvPr>
            <p:ph type="sldNum" sz="quarter" idx="2"/>
          </p:nvPr>
        </p:nvSpPr>
        <p:spPr>
          <a:xfrm>
            <a:off x="11393502" y="6404295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pic>
        <p:nvPicPr>
          <p:cNvPr id="22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841365" y="57096"/>
            <a:ext cx="2209121" cy="1122869"/>
          </a:xfrm>
          <a:prstGeom prst="rect">
            <a:avLst/>
          </a:prstGeom>
          <a:ln w="12700">
            <a:miter lim="400000"/>
          </a:ln>
        </p:spPr>
      </p:pic>
      <p:sp>
        <p:nvSpPr>
          <p:cNvPr id="228" name="TextBox 17410"/>
          <p:cNvSpPr txBox="1"/>
          <p:nvPr/>
        </p:nvSpPr>
        <p:spPr>
          <a:xfrm>
            <a:off x="416559" y="1104697"/>
            <a:ext cx="1097280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900">
                <a:solidFill>
                  <a:srgbClr val="142D4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 dashboard isn’t the hard part. It is making the data reliable.</a:t>
            </a:r>
          </a:p>
        </p:txBody>
      </p:sp>
      <p:grpSp>
        <p:nvGrpSpPr>
          <p:cNvPr id="231" name="Rounded Rectangle 17411"/>
          <p:cNvGrpSpPr/>
          <p:nvPr/>
        </p:nvGrpSpPr>
        <p:grpSpPr>
          <a:xfrm>
            <a:off x="502919" y="1600200"/>
            <a:ext cx="3246122" cy="640081"/>
            <a:chOff x="0" y="0"/>
            <a:chExt cx="3246120" cy="640080"/>
          </a:xfrm>
        </p:grpSpPr>
        <p:sp>
          <p:nvSpPr>
            <p:cNvPr id="229" name="Rounded Rectangle"/>
            <p:cNvSpPr/>
            <p:nvPr/>
          </p:nvSpPr>
          <p:spPr>
            <a:xfrm>
              <a:off x="0" y="0"/>
              <a:ext cx="3246121" cy="64008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BE4B46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30" name="Data access can change"/>
            <p:cNvSpPr txBox="1"/>
            <p:nvPr/>
          </p:nvSpPr>
          <p:spPr>
            <a:xfrm>
              <a:off x="83316" y="172720"/>
              <a:ext cx="3079489" cy="294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300">
                  <a:solidFill>
                    <a:srgbClr val="BE4B46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Data access can change</a:t>
              </a:r>
            </a:p>
          </p:txBody>
        </p:sp>
      </p:grpSp>
      <p:sp>
        <p:nvSpPr>
          <p:cNvPr id="232" name="Connector 17412"/>
          <p:cNvSpPr/>
          <p:nvPr/>
        </p:nvSpPr>
        <p:spPr>
          <a:xfrm>
            <a:off x="3822191" y="1920239"/>
            <a:ext cx="402338" cy="1"/>
          </a:xfrm>
          <a:prstGeom prst="line">
            <a:avLst/>
          </a:prstGeom>
          <a:ln w="17780">
            <a:solidFill>
              <a:srgbClr val="5F69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grpSp>
        <p:nvGrpSpPr>
          <p:cNvPr id="235" name="Rounded Rectangle 17413"/>
          <p:cNvGrpSpPr/>
          <p:nvPr/>
        </p:nvGrpSpPr>
        <p:grpSpPr>
          <a:xfrm>
            <a:off x="4297679" y="1600200"/>
            <a:ext cx="6903721" cy="640081"/>
            <a:chOff x="0" y="0"/>
            <a:chExt cx="6903719" cy="640080"/>
          </a:xfrm>
        </p:grpSpPr>
        <p:sp>
          <p:nvSpPr>
            <p:cNvPr id="233" name="Rounded Rectangle"/>
            <p:cNvSpPr/>
            <p:nvPr/>
          </p:nvSpPr>
          <p:spPr>
            <a:xfrm>
              <a:off x="0" y="0"/>
              <a:ext cx="6903720" cy="640081"/>
            </a:xfrm>
            <a:prstGeom prst="roundRect">
              <a:avLst>
                <a:gd name="adj" fmla="val 16667"/>
              </a:avLst>
            </a:prstGeom>
            <a:solidFill>
              <a:srgbClr val="F2F6F9"/>
            </a:solidFill>
            <a:ln w="12700" cap="flat">
              <a:solidFill>
                <a:srgbClr val="D7E1E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34" name="Caching + session-aware retrieval + raw snapshots"/>
            <p:cNvSpPr txBox="1"/>
            <p:nvPr/>
          </p:nvSpPr>
          <p:spPr>
            <a:xfrm>
              <a:off x="83315" y="172720"/>
              <a:ext cx="6737089" cy="294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 b="1" sz="1300">
                  <a:solidFill>
                    <a:srgbClr val="142D4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Caching + session-aware retrieval + raw snapshots</a:t>
              </a:r>
            </a:p>
          </p:txBody>
        </p:sp>
      </p:grpSp>
      <p:grpSp>
        <p:nvGrpSpPr>
          <p:cNvPr id="238" name="Rounded Rectangle 17414"/>
          <p:cNvGrpSpPr/>
          <p:nvPr/>
        </p:nvGrpSpPr>
        <p:grpSpPr>
          <a:xfrm>
            <a:off x="502919" y="2560320"/>
            <a:ext cx="3246122" cy="640081"/>
            <a:chOff x="0" y="0"/>
            <a:chExt cx="3246120" cy="640080"/>
          </a:xfrm>
        </p:grpSpPr>
        <p:sp>
          <p:nvSpPr>
            <p:cNvPr id="236" name="Rounded Rectangle"/>
            <p:cNvSpPr/>
            <p:nvPr/>
          </p:nvSpPr>
          <p:spPr>
            <a:xfrm>
              <a:off x="0" y="0"/>
              <a:ext cx="3246121" cy="64008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BE4B46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37" name="Fields may be missing or inconsistent"/>
            <p:cNvSpPr txBox="1"/>
            <p:nvPr/>
          </p:nvSpPr>
          <p:spPr>
            <a:xfrm>
              <a:off x="83316" y="71120"/>
              <a:ext cx="3079489" cy="497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300">
                  <a:solidFill>
                    <a:srgbClr val="BE4B46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Fields may be missing or inconsistent</a:t>
              </a:r>
            </a:p>
          </p:txBody>
        </p:sp>
      </p:grpSp>
      <p:sp>
        <p:nvSpPr>
          <p:cNvPr id="239" name="Connector 17415"/>
          <p:cNvSpPr/>
          <p:nvPr/>
        </p:nvSpPr>
        <p:spPr>
          <a:xfrm>
            <a:off x="3822191" y="2880360"/>
            <a:ext cx="402338" cy="1"/>
          </a:xfrm>
          <a:prstGeom prst="line">
            <a:avLst/>
          </a:prstGeom>
          <a:ln w="17780">
            <a:solidFill>
              <a:srgbClr val="5F69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grpSp>
        <p:nvGrpSpPr>
          <p:cNvPr id="242" name="Rounded Rectangle 17416"/>
          <p:cNvGrpSpPr/>
          <p:nvPr/>
        </p:nvGrpSpPr>
        <p:grpSpPr>
          <a:xfrm>
            <a:off x="4297679" y="2560320"/>
            <a:ext cx="6903721" cy="640081"/>
            <a:chOff x="0" y="0"/>
            <a:chExt cx="6903719" cy="640080"/>
          </a:xfrm>
        </p:grpSpPr>
        <p:sp>
          <p:nvSpPr>
            <p:cNvPr id="240" name="Rounded Rectangle"/>
            <p:cNvSpPr/>
            <p:nvPr/>
          </p:nvSpPr>
          <p:spPr>
            <a:xfrm>
              <a:off x="0" y="0"/>
              <a:ext cx="6903720" cy="640081"/>
            </a:xfrm>
            <a:prstGeom prst="roundRect">
              <a:avLst>
                <a:gd name="adj" fmla="val 16667"/>
              </a:avLst>
            </a:prstGeom>
            <a:solidFill>
              <a:srgbClr val="F2F6F9"/>
            </a:solidFill>
            <a:ln w="12700" cap="flat">
              <a:solidFill>
                <a:srgbClr val="D7E1E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41" name="Validation + normalization + schema/version handling"/>
            <p:cNvSpPr txBox="1"/>
            <p:nvPr/>
          </p:nvSpPr>
          <p:spPr>
            <a:xfrm>
              <a:off x="83315" y="172720"/>
              <a:ext cx="6737089" cy="294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 b="1" sz="1300">
                  <a:solidFill>
                    <a:srgbClr val="142D4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Validation + normalization + schema/version handling</a:t>
              </a:r>
            </a:p>
          </p:txBody>
        </p:sp>
      </p:grpSp>
      <p:grpSp>
        <p:nvGrpSpPr>
          <p:cNvPr id="245" name="Rounded Rectangle 17417"/>
          <p:cNvGrpSpPr/>
          <p:nvPr/>
        </p:nvGrpSpPr>
        <p:grpSpPr>
          <a:xfrm>
            <a:off x="502919" y="3520440"/>
            <a:ext cx="3246122" cy="640081"/>
            <a:chOff x="0" y="0"/>
            <a:chExt cx="3246120" cy="640080"/>
          </a:xfrm>
        </p:grpSpPr>
        <p:sp>
          <p:nvSpPr>
            <p:cNvPr id="243" name="Rounded Rectangle"/>
            <p:cNvSpPr/>
            <p:nvPr/>
          </p:nvSpPr>
          <p:spPr>
            <a:xfrm>
              <a:off x="0" y="0"/>
              <a:ext cx="3246121" cy="64008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BE4B46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44" name="Locations may not map cleanly"/>
            <p:cNvSpPr txBox="1"/>
            <p:nvPr/>
          </p:nvSpPr>
          <p:spPr>
            <a:xfrm>
              <a:off x="83316" y="172720"/>
              <a:ext cx="3079489" cy="294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300">
                  <a:solidFill>
                    <a:srgbClr val="BE4B46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Locations may not map cleanly</a:t>
              </a:r>
            </a:p>
          </p:txBody>
        </p:sp>
      </p:grpSp>
      <p:sp>
        <p:nvSpPr>
          <p:cNvPr id="246" name="Connector 17418"/>
          <p:cNvSpPr/>
          <p:nvPr/>
        </p:nvSpPr>
        <p:spPr>
          <a:xfrm>
            <a:off x="3822191" y="3840479"/>
            <a:ext cx="402338" cy="1"/>
          </a:xfrm>
          <a:prstGeom prst="line">
            <a:avLst/>
          </a:prstGeom>
          <a:ln w="17780">
            <a:solidFill>
              <a:srgbClr val="5F69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grpSp>
        <p:nvGrpSpPr>
          <p:cNvPr id="249" name="Rounded Rectangle 17419"/>
          <p:cNvGrpSpPr/>
          <p:nvPr/>
        </p:nvGrpSpPr>
        <p:grpSpPr>
          <a:xfrm>
            <a:off x="4297679" y="3520440"/>
            <a:ext cx="6903721" cy="640081"/>
            <a:chOff x="0" y="0"/>
            <a:chExt cx="6903719" cy="640080"/>
          </a:xfrm>
        </p:grpSpPr>
        <p:sp>
          <p:nvSpPr>
            <p:cNvPr id="247" name="Rounded Rectangle"/>
            <p:cNvSpPr/>
            <p:nvPr/>
          </p:nvSpPr>
          <p:spPr>
            <a:xfrm>
              <a:off x="0" y="0"/>
              <a:ext cx="6903720" cy="640081"/>
            </a:xfrm>
            <a:prstGeom prst="roundRect">
              <a:avLst>
                <a:gd name="adj" fmla="val 16667"/>
              </a:avLst>
            </a:prstGeom>
            <a:solidFill>
              <a:srgbClr val="F2F6F9"/>
            </a:solidFill>
            <a:ln w="12700" cap="flat">
              <a:solidFill>
                <a:srgbClr val="D7E1E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48" name="Geographic validation and standardized boundaries"/>
            <p:cNvSpPr txBox="1"/>
            <p:nvPr/>
          </p:nvSpPr>
          <p:spPr>
            <a:xfrm>
              <a:off x="83315" y="172720"/>
              <a:ext cx="6737089" cy="294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 b="1" sz="1300">
                  <a:solidFill>
                    <a:srgbClr val="142D4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Geographic validation and standardized boundaries</a:t>
              </a:r>
            </a:p>
          </p:txBody>
        </p:sp>
      </p:grpSp>
      <p:grpSp>
        <p:nvGrpSpPr>
          <p:cNvPr id="252" name="Rounded Rectangle 17420"/>
          <p:cNvGrpSpPr/>
          <p:nvPr/>
        </p:nvGrpSpPr>
        <p:grpSpPr>
          <a:xfrm>
            <a:off x="502919" y="4480559"/>
            <a:ext cx="3246122" cy="640081"/>
            <a:chOff x="0" y="0"/>
            <a:chExt cx="3246120" cy="640080"/>
          </a:xfrm>
        </p:grpSpPr>
        <p:sp>
          <p:nvSpPr>
            <p:cNvPr id="250" name="Rounded Rectangle"/>
            <p:cNvSpPr/>
            <p:nvPr/>
          </p:nvSpPr>
          <p:spPr>
            <a:xfrm>
              <a:off x="0" y="0"/>
              <a:ext cx="3246121" cy="64008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BE4B46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51" name="Unusual ≠ fraudulent"/>
            <p:cNvSpPr txBox="1"/>
            <p:nvPr/>
          </p:nvSpPr>
          <p:spPr>
            <a:xfrm>
              <a:off x="83316" y="172720"/>
              <a:ext cx="3079489" cy="294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300">
                  <a:solidFill>
                    <a:srgbClr val="BE4B46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Unusual ≠ fraudulent</a:t>
              </a:r>
            </a:p>
          </p:txBody>
        </p:sp>
      </p:grpSp>
      <p:sp>
        <p:nvSpPr>
          <p:cNvPr id="253" name="Connector 17421"/>
          <p:cNvSpPr/>
          <p:nvPr/>
        </p:nvSpPr>
        <p:spPr>
          <a:xfrm>
            <a:off x="3822191" y="4800600"/>
            <a:ext cx="402338" cy="0"/>
          </a:xfrm>
          <a:prstGeom prst="line">
            <a:avLst/>
          </a:prstGeom>
          <a:ln w="17780">
            <a:solidFill>
              <a:srgbClr val="5F69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grpSp>
        <p:nvGrpSpPr>
          <p:cNvPr id="256" name="Rounded Rectangle 17422"/>
          <p:cNvGrpSpPr/>
          <p:nvPr/>
        </p:nvGrpSpPr>
        <p:grpSpPr>
          <a:xfrm>
            <a:off x="4297679" y="4480559"/>
            <a:ext cx="6903721" cy="640081"/>
            <a:chOff x="0" y="0"/>
            <a:chExt cx="6903719" cy="640080"/>
          </a:xfrm>
        </p:grpSpPr>
        <p:sp>
          <p:nvSpPr>
            <p:cNvPr id="254" name="Rounded Rectangle"/>
            <p:cNvSpPr/>
            <p:nvPr/>
          </p:nvSpPr>
          <p:spPr>
            <a:xfrm>
              <a:off x="0" y="0"/>
              <a:ext cx="6903720" cy="640081"/>
            </a:xfrm>
            <a:prstGeom prst="roundRect">
              <a:avLst>
                <a:gd name="adj" fmla="val 16667"/>
              </a:avLst>
            </a:prstGeom>
            <a:solidFill>
              <a:srgbClr val="F2F6F9"/>
            </a:solidFill>
            <a:ln w="12700" cap="flat">
              <a:solidFill>
                <a:srgbClr val="D7E1E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55" name="Explainable anomaly signals for human review"/>
            <p:cNvSpPr txBox="1"/>
            <p:nvPr/>
          </p:nvSpPr>
          <p:spPr>
            <a:xfrm>
              <a:off x="83315" y="172720"/>
              <a:ext cx="6737089" cy="294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 b="1" sz="1300">
                  <a:solidFill>
                    <a:srgbClr val="142D4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Explainable anomaly signals for human review</a:t>
              </a:r>
            </a:p>
          </p:txBody>
        </p:sp>
      </p:grpSp>
      <p:grpSp>
        <p:nvGrpSpPr>
          <p:cNvPr id="259" name="Rounded Rectangle 17423"/>
          <p:cNvGrpSpPr/>
          <p:nvPr/>
        </p:nvGrpSpPr>
        <p:grpSpPr>
          <a:xfrm>
            <a:off x="502919" y="5532120"/>
            <a:ext cx="1417321" cy="310897"/>
            <a:chOff x="0" y="0"/>
            <a:chExt cx="1417319" cy="310895"/>
          </a:xfrm>
        </p:grpSpPr>
        <p:sp>
          <p:nvSpPr>
            <p:cNvPr id="257" name="Rounded Rectangle"/>
            <p:cNvSpPr/>
            <p:nvPr/>
          </p:nvSpPr>
          <p:spPr>
            <a:xfrm>
              <a:off x="0" y="0"/>
              <a:ext cx="1417320" cy="310896"/>
            </a:xfrm>
            <a:prstGeom prst="roundRect">
              <a:avLst>
                <a:gd name="adj" fmla="val 16667"/>
              </a:avLst>
            </a:prstGeom>
            <a:solidFill>
              <a:srgbClr val="32915F"/>
            </a:solidFill>
            <a:ln w="12700" cap="flat">
              <a:solidFill>
                <a:srgbClr val="32915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58" name="MVP → SCALE"/>
            <p:cNvSpPr txBox="1"/>
            <p:nvPr/>
          </p:nvSpPr>
          <p:spPr>
            <a:xfrm>
              <a:off x="67246" y="32318"/>
              <a:ext cx="1282828" cy="2462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MVP → SCALE</a:t>
              </a:r>
            </a:p>
          </p:txBody>
        </p:sp>
      </p:grpSp>
      <p:sp>
        <p:nvSpPr>
          <p:cNvPr id="260" name="TextBox 17424"/>
          <p:cNvSpPr txBox="1"/>
          <p:nvPr/>
        </p:nvSpPr>
        <p:spPr>
          <a:xfrm>
            <a:off x="2103120" y="5468111"/>
            <a:ext cx="8961120" cy="5266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232D3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Start with a limited dataset → validate the pipeline → expand regionally → move toward national coverage.</a:t>
            </a:r>
          </a:p>
        </p:txBody>
      </p:sp>
      <p:pic>
        <p:nvPicPr>
          <p:cNvPr id="261" name="WhatsApp Image 2026-09-07 at 23.09.04.jpeg" descr="WhatsApp Image 2026-09-07 at 23.09.04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855758" y="16320"/>
            <a:ext cx="2286001" cy="11557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64" name="Oval 9"/>
          <p:cNvGrpSpPr/>
          <p:nvPr/>
        </p:nvGrpSpPr>
        <p:grpSpPr>
          <a:xfrm>
            <a:off x="190931" y="181039"/>
            <a:ext cx="1258620" cy="811696"/>
            <a:chOff x="0" y="0"/>
            <a:chExt cx="1258619" cy="811694"/>
          </a:xfrm>
        </p:grpSpPr>
        <p:sp>
          <p:nvSpPr>
            <p:cNvPr id="262" name="Oval"/>
            <p:cNvSpPr/>
            <p:nvPr/>
          </p:nvSpPr>
          <p:spPr>
            <a:xfrm>
              <a:off x="0" y="-1"/>
              <a:ext cx="1258620" cy="811696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63" name="InfraSight"/>
            <p:cNvSpPr txBox="1"/>
            <p:nvPr/>
          </p:nvSpPr>
          <p:spPr>
            <a:xfrm>
              <a:off x="45392" y="120289"/>
              <a:ext cx="1167835" cy="5711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b="1" sz="1500">
                  <a:solidFill>
                    <a:srgbClr val="142D4B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InfraSight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Footer Placeholder 6"/>
          <p:cNvSpPr txBox="1"/>
          <p:nvPr/>
        </p:nvSpPr>
        <p:spPr>
          <a:xfrm>
            <a:off x="4693920" y="6404295"/>
            <a:ext cx="31125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r>
              <a:t>@SIH Idea submission- Template</a:t>
            </a:r>
          </a:p>
        </p:txBody>
      </p:sp>
      <p:sp>
        <p:nvSpPr>
          <p:cNvPr id="267" name="Rectangle 9"/>
          <p:cNvSpPr/>
          <p:nvPr/>
        </p:nvSpPr>
        <p:spPr>
          <a:xfrm>
            <a:off x="-1" y="6354762"/>
            <a:ext cx="12192001" cy="503239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99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953735"/>
                </a:solidFill>
              </a:defRPr>
            </a:pPr>
          </a:p>
        </p:txBody>
      </p:sp>
      <p:sp>
        <p:nvSpPr>
          <p:cNvPr id="268" name="Title 1"/>
          <p:cNvSpPr txBox="1"/>
          <p:nvPr>
            <p:ph type="title"/>
          </p:nvPr>
        </p:nvSpPr>
        <p:spPr>
          <a:xfrm>
            <a:off x="1581630" y="-47625"/>
            <a:ext cx="10972801" cy="1143000"/>
          </a:xfrm>
          <a:prstGeom prst="rect">
            <a:avLst/>
          </a:prstGeom>
        </p:spPr>
        <p:txBody>
          <a:bodyPr/>
          <a:lstStyle>
            <a:lvl1pPr algn="l">
              <a:defRPr b="1" sz="2400">
                <a:solidFill>
                  <a:srgbClr val="142D4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IMPACT AND BENEFITS</a:t>
            </a:r>
          </a:p>
        </p:txBody>
      </p:sp>
      <p:sp>
        <p:nvSpPr>
          <p:cNvPr id="269" name="Slide Number Placeholder 5"/>
          <p:cNvSpPr txBox="1"/>
          <p:nvPr>
            <p:ph type="sldNum" sz="quarter" idx="2"/>
          </p:nvPr>
        </p:nvSpPr>
        <p:spPr>
          <a:xfrm>
            <a:off x="11393502" y="6404295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pic>
        <p:nvPicPr>
          <p:cNvPr id="27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841365" y="57096"/>
            <a:ext cx="2209121" cy="1122869"/>
          </a:xfrm>
          <a:prstGeom prst="rect">
            <a:avLst/>
          </a:prstGeom>
          <a:ln w="12700">
            <a:miter lim="400000"/>
          </a:ln>
        </p:spPr>
      </p:pic>
      <p:sp>
        <p:nvSpPr>
          <p:cNvPr id="271" name="TextBox 17410"/>
          <p:cNvSpPr txBox="1"/>
          <p:nvPr/>
        </p:nvSpPr>
        <p:spPr>
          <a:xfrm>
            <a:off x="274319" y="1036107"/>
            <a:ext cx="1106424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142D4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We are building for the people who need answers, not another complicated portal.</a:t>
            </a:r>
          </a:p>
        </p:txBody>
      </p:sp>
      <p:grpSp>
        <p:nvGrpSpPr>
          <p:cNvPr id="274" name="Rounded Rectangle 17412"/>
          <p:cNvGrpSpPr/>
          <p:nvPr/>
        </p:nvGrpSpPr>
        <p:grpSpPr>
          <a:xfrm>
            <a:off x="502919" y="1513332"/>
            <a:ext cx="2468881" cy="777241"/>
            <a:chOff x="0" y="0"/>
            <a:chExt cx="2468879" cy="777240"/>
          </a:xfrm>
        </p:grpSpPr>
        <p:sp>
          <p:nvSpPr>
            <p:cNvPr id="272" name="Rounded Rectangle"/>
            <p:cNvSpPr/>
            <p:nvPr/>
          </p:nvSpPr>
          <p:spPr>
            <a:xfrm>
              <a:off x="0" y="0"/>
              <a:ext cx="2468880" cy="77724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2369A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73" name="CITIZENS"/>
            <p:cNvSpPr txBox="1"/>
            <p:nvPr/>
          </p:nvSpPr>
          <p:spPr>
            <a:xfrm>
              <a:off x="90012" y="241300"/>
              <a:ext cx="2288857" cy="294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300">
                  <a:solidFill>
                    <a:srgbClr val="2369A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CITIZENS</a:t>
              </a:r>
            </a:p>
          </p:txBody>
        </p:sp>
      </p:grpSp>
      <p:sp>
        <p:nvSpPr>
          <p:cNvPr id="275" name="TextBox 17413"/>
          <p:cNvSpPr txBox="1"/>
          <p:nvPr/>
        </p:nvSpPr>
        <p:spPr>
          <a:xfrm>
            <a:off x="548639" y="2313432"/>
            <a:ext cx="2377442" cy="2257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232D3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See where development is happening.</a:t>
            </a:r>
          </a:p>
        </p:txBody>
      </p:sp>
      <p:grpSp>
        <p:nvGrpSpPr>
          <p:cNvPr id="278" name="Rounded Rectangle 17414"/>
          <p:cNvGrpSpPr/>
          <p:nvPr/>
        </p:nvGrpSpPr>
        <p:grpSpPr>
          <a:xfrm>
            <a:off x="502919" y="3977638"/>
            <a:ext cx="2468881" cy="777242"/>
            <a:chOff x="0" y="0"/>
            <a:chExt cx="2468879" cy="777240"/>
          </a:xfrm>
        </p:grpSpPr>
        <p:sp>
          <p:nvSpPr>
            <p:cNvPr id="276" name="Rounded Rectangle"/>
            <p:cNvSpPr/>
            <p:nvPr/>
          </p:nvSpPr>
          <p:spPr>
            <a:xfrm>
              <a:off x="0" y="0"/>
              <a:ext cx="2468880" cy="77724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E17D2D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77" name="JOURNALISTS / RESEARCHERS"/>
            <p:cNvSpPr txBox="1"/>
            <p:nvPr/>
          </p:nvSpPr>
          <p:spPr>
            <a:xfrm>
              <a:off x="90012" y="139699"/>
              <a:ext cx="2288857" cy="497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300">
                  <a:solidFill>
                    <a:srgbClr val="E17D2D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JOURNALISTS / RESEARCHERS</a:t>
              </a:r>
            </a:p>
          </p:txBody>
        </p:sp>
      </p:grpSp>
      <p:sp>
        <p:nvSpPr>
          <p:cNvPr id="279" name="TextBox 17415"/>
          <p:cNvSpPr txBox="1"/>
          <p:nvPr/>
        </p:nvSpPr>
        <p:spPr>
          <a:xfrm>
            <a:off x="548639" y="4782310"/>
            <a:ext cx="2377442" cy="2257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232D3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Compare regions and investigate patterns.</a:t>
            </a:r>
          </a:p>
        </p:txBody>
      </p:sp>
      <p:grpSp>
        <p:nvGrpSpPr>
          <p:cNvPr id="282" name="Rounded Rectangle 17416"/>
          <p:cNvGrpSpPr/>
          <p:nvPr/>
        </p:nvGrpSpPr>
        <p:grpSpPr>
          <a:xfrm>
            <a:off x="9052559" y="1508760"/>
            <a:ext cx="2468881" cy="777241"/>
            <a:chOff x="0" y="0"/>
            <a:chExt cx="2468879" cy="777240"/>
          </a:xfrm>
        </p:grpSpPr>
        <p:sp>
          <p:nvSpPr>
            <p:cNvPr id="280" name="Rounded Rectangle"/>
            <p:cNvSpPr/>
            <p:nvPr/>
          </p:nvSpPr>
          <p:spPr>
            <a:xfrm>
              <a:off x="0" y="0"/>
              <a:ext cx="2468880" cy="77724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188782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81" name="ADMINISTRATORS"/>
            <p:cNvSpPr txBox="1"/>
            <p:nvPr/>
          </p:nvSpPr>
          <p:spPr>
            <a:xfrm>
              <a:off x="90012" y="241300"/>
              <a:ext cx="2288857" cy="294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300">
                  <a:solidFill>
                    <a:srgbClr val="188782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ADMINISTRATORS</a:t>
              </a:r>
            </a:p>
          </p:txBody>
        </p:sp>
      </p:grpSp>
      <p:sp>
        <p:nvSpPr>
          <p:cNvPr id="283" name="TextBox 17417"/>
          <p:cNvSpPr txBox="1"/>
          <p:nvPr/>
        </p:nvSpPr>
        <p:spPr>
          <a:xfrm>
            <a:off x="9144000" y="2313432"/>
            <a:ext cx="237744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000">
                <a:solidFill>
                  <a:srgbClr val="232D3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Spot implementation and utilization patterns</a:t>
            </a:r>
            <a:r>
              <a:rPr>
                <a:latin typeface="Aptos"/>
                <a:ea typeface="Aptos"/>
                <a:cs typeface="Aptos"/>
                <a:sym typeface="Aptos"/>
              </a:rPr>
              <a:t>.</a:t>
            </a:r>
          </a:p>
        </p:txBody>
      </p:sp>
      <p:grpSp>
        <p:nvGrpSpPr>
          <p:cNvPr id="286" name="Rounded Rectangle 17418"/>
          <p:cNvGrpSpPr/>
          <p:nvPr/>
        </p:nvGrpSpPr>
        <p:grpSpPr>
          <a:xfrm>
            <a:off x="9052559" y="3977638"/>
            <a:ext cx="2468881" cy="777242"/>
            <a:chOff x="0" y="0"/>
            <a:chExt cx="2468879" cy="777240"/>
          </a:xfrm>
        </p:grpSpPr>
        <p:sp>
          <p:nvSpPr>
            <p:cNvPr id="284" name="Rounded Rectangle"/>
            <p:cNvSpPr/>
            <p:nvPr/>
          </p:nvSpPr>
          <p:spPr>
            <a:xfrm>
              <a:off x="0" y="0"/>
              <a:ext cx="2468880" cy="77724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32915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85" name="CIVIL SOCIETY"/>
            <p:cNvSpPr txBox="1"/>
            <p:nvPr/>
          </p:nvSpPr>
          <p:spPr>
            <a:xfrm>
              <a:off x="90012" y="241300"/>
              <a:ext cx="2288857" cy="294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300">
                  <a:solidFill>
                    <a:srgbClr val="32915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CIVIL SOCIETY</a:t>
              </a:r>
            </a:p>
          </p:txBody>
        </p:sp>
      </p:grpSp>
      <p:sp>
        <p:nvSpPr>
          <p:cNvPr id="287" name="TextBox 17419"/>
          <p:cNvSpPr txBox="1"/>
          <p:nvPr/>
        </p:nvSpPr>
        <p:spPr>
          <a:xfrm>
            <a:off x="9159239" y="4782310"/>
            <a:ext cx="2377441" cy="2257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232D3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Use evidence for informed accountability.</a:t>
            </a:r>
          </a:p>
        </p:txBody>
      </p:sp>
      <p:sp>
        <p:nvSpPr>
          <p:cNvPr id="288" name="Connector 17420"/>
          <p:cNvSpPr/>
          <p:nvPr/>
        </p:nvSpPr>
        <p:spPr>
          <a:xfrm>
            <a:off x="2971800" y="1892806"/>
            <a:ext cx="1645921" cy="1"/>
          </a:xfrm>
          <a:prstGeom prst="line">
            <a:avLst/>
          </a:prstGeom>
          <a:ln w="15240">
            <a:solidFill>
              <a:srgbClr val="B4BEC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9" name="Connector 17421"/>
          <p:cNvSpPr/>
          <p:nvPr/>
        </p:nvSpPr>
        <p:spPr>
          <a:xfrm>
            <a:off x="2971800" y="4361688"/>
            <a:ext cx="1645921" cy="1"/>
          </a:xfrm>
          <a:prstGeom prst="line">
            <a:avLst/>
          </a:prstGeom>
          <a:ln w="15240">
            <a:solidFill>
              <a:srgbClr val="B4BEC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0" name="Connector 17422"/>
          <p:cNvSpPr/>
          <p:nvPr/>
        </p:nvSpPr>
        <p:spPr>
          <a:xfrm flipH="1">
            <a:off x="7628180" y="1892806"/>
            <a:ext cx="1424380" cy="1"/>
          </a:xfrm>
          <a:prstGeom prst="line">
            <a:avLst/>
          </a:prstGeom>
          <a:ln w="15240">
            <a:solidFill>
              <a:srgbClr val="B4BEC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1" name="Connector 17423"/>
          <p:cNvSpPr/>
          <p:nvPr/>
        </p:nvSpPr>
        <p:spPr>
          <a:xfrm flipH="1">
            <a:off x="7628180" y="4361688"/>
            <a:ext cx="1424380" cy="1"/>
          </a:xfrm>
          <a:prstGeom prst="line">
            <a:avLst/>
          </a:prstGeom>
          <a:ln w="15240">
            <a:solidFill>
              <a:srgbClr val="B4BEC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grpSp>
        <p:nvGrpSpPr>
          <p:cNvPr id="294" name="Rounded Rectangle 17424"/>
          <p:cNvGrpSpPr/>
          <p:nvPr/>
        </p:nvGrpSpPr>
        <p:grpSpPr>
          <a:xfrm>
            <a:off x="3078479" y="5486400"/>
            <a:ext cx="6035042" cy="502920"/>
            <a:chOff x="0" y="0"/>
            <a:chExt cx="6035040" cy="502919"/>
          </a:xfrm>
        </p:grpSpPr>
        <p:sp>
          <p:nvSpPr>
            <p:cNvPr id="292" name="Rounded Rectangle"/>
            <p:cNvSpPr/>
            <p:nvPr/>
          </p:nvSpPr>
          <p:spPr>
            <a:xfrm>
              <a:off x="0" y="0"/>
              <a:ext cx="6035041" cy="502920"/>
            </a:xfrm>
            <a:prstGeom prst="roundRect">
              <a:avLst>
                <a:gd name="adj" fmla="val 16667"/>
              </a:avLst>
            </a:prstGeom>
            <a:solidFill>
              <a:srgbClr val="F2F6F9"/>
            </a:solidFill>
            <a:ln w="12700" cap="flat">
              <a:solidFill>
                <a:srgbClr val="D7E1E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93" name="TRANSPARENCY  •  ACTIONABILITY  •  INSIGHT  •  ACCOUNTABILITY"/>
            <p:cNvSpPr txBox="1"/>
            <p:nvPr/>
          </p:nvSpPr>
          <p:spPr>
            <a:xfrm>
              <a:off x="76619" y="116839"/>
              <a:ext cx="5881801" cy="269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200">
                  <a:solidFill>
                    <a:srgbClr val="142D4B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TRANSPARENCY  •  AC</a:t>
              </a:r>
              <a:r>
                <a:t>TIONABILITY</a:t>
              </a:r>
              <a:r>
                <a:t>  •  INSIGHT  •  ACCOUNTABILITY</a:t>
              </a:r>
            </a:p>
          </p:txBody>
        </p:sp>
      </p:grpSp>
      <p:sp>
        <p:nvSpPr>
          <p:cNvPr id="295" name="Connector 17422"/>
          <p:cNvSpPr/>
          <p:nvPr/>
        </p:nvSpPr>
        <p:spPr>
          <a:xfrm flipH="1">
            <a:off x="7292064" y="1884687"/>
            <a:ext cx="328923" cy="752861"/>
          </a:xfrm>
          <a:prstGeom prst="line">
            <a:avLst/>
          </a:prstGeom>
          <a:ln w="15240">
            <a:solidFill>
              <a:srgbClr val="B4BEC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6" name="Connector 17422"/>
          <p:cNvSpPr/>
          <p:nvPr/>
        </p:nvSpPr>
        <p:spPr>
          <a:xfrm>
            <a:off x="7292064" y="3495436"/>
            <a:ext cx="328923" cy="881249"/>
          </a:xfrm>
          <a:prstGeom prst="line">
            <a:avLst/>
          </a:prstGeom>
          <a:ln w="15240">
            <a:solidFill>
              <a:srgbClr val="B4BEC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7" name="Connector 17422"/>
          <p:cNvSpPr/>
          <p:nvPr/>
        </p:nvSpPr>
        <p:spPr>
          <a:xfrm flipH="1">
            <a:off x="4611253" y="3330799"/>
            <a:ext cx="317889" cy="1046226"/>
          </a:xfrm>
          <a:prstGeom prst="line">
            <a:avLst/>
          </a:prstGeom>
          <a:ln w="15240">
            <a:solidFill>
              <a:srgbClr val="B4BEC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8" name="Connector 17422"/>
          <p:cNvSpPr/>
          <p:nvPr/>
        </p:nvSpPr>
        <p:spPr>
          <a:xfrm>
            <a:off x="4611253" y="1887700"/>
            <a:ext cx="174301" cy="498861"/>
          </a:xfrm>
          <a:prstGeom prst="line">
            <a:avLst/>
          </a:prstGeom>
          <a:ln w="15240">
            <a:solidFill>
              <a:srgbClr val="B4BEC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grpSp>
        <p:nvGrpSpPr>
          <p:cNvPr id="301" name="Rounded Rectangle 17411"/>
          <p:cNvGrpSpPr/>
          <p:nvPr/>
        </p:nvGrpSpPr>
        <p:grpSpPr>
          <a:xfrm>
            <a:off x="4610100" y="2394000"/>
            <a:ext cx="2971800" cy="1143001"/>
            <a:chOff x="0" y="0"/>
            <a:chExt cx="2971800" cy="1143000"/>
          </a:xfrm>
        </p:grpSpPr>
        <p:sp>
          <p:nvSpPr>
            <p:cNvPr id="299" name="Rounded Rectangle"/>
            <p:cNvSpPr/>
            <p:nvPr/>
          </p:nvSpPr>
          <p:spPr>
            <a:xfrm>
              <a:off x="0" y="0"/>
              <a:ext cx="2971800" cy="1143000"/>
            </a:xfrm>
            <a:prstGeom prst="roundRect">
              <a:avLst>
                <a:gd name="adj" fmla="val 16667"/>
              </a:avLst>
            </a:prstGeom>
            <a:solidFill>
              <a:srgbClr val="142D4B"/>
            </a:solidFill>
            <a:ln w="12700" cap="flat">
              <a:solidFill>
                <a:srgbClr val="142D4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00" name="INFRASIGHT"/>
            <p:cNvSpPr txBox="1"/>
            <p:nvPr/>
          </p:nvSpPr>
          <p:spPr>
            <a:xfrm>
              <a:off x="107866" y="347979"/>
              <a:ext cx="2756068" cy="447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23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INFRASIGHT</a:t>
              </a:r>
            </a:p>
          </p:txBody>
        </p:sp>
      </p:grpSp>
      <p:pic>
        <p:nvPicPr>
          <p:cNvPr id="302" name="WhatsApp Image 2026-09-07 at 23.09.04.jpeg" descr="WhatsApp Image 2026-09-07 at 23.09.04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855758" y="16320"/>
            <a:ext cx="2286001" cy="11557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05" name="Oval 9"/>
          <p:cNvGrpSpPr/>
          <p:nvPr/>
        </p:nvGrpSpPr>
        <p:grpSpPr>
          <a:xfrm>
            <a:off x="180771" y="118027"/>
            <a:ext cx="1258620" cy="811696"/>
            <a:chOff x="0" y="0"/>
            <a:chExt cx="1258619" cy="811694"/>
          </a:xfrm>
        </p:grpSpPr>
        <p:sp>
          <p:nvSpPr>
            <p:cNvPr id="303" name="Oval"/>
            <p:cNvSpPr/>
            <p:nvPr/>
          </p:nvSpPr>
          <p:spPr>
            <a:xfrm>
              <a:off x="0" y="-1"/>
              <a:ext cx="1258620" cy="811696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04" name="InfraSight"/>
            <p:cNvSpPr txBox="1"/>
            <p:nvPr/>
          </p:nvSpPr>
          <p:spPr>
            <a:xfrm>
              <a:off x="45392" y="120289"/>
              <a:ext cx="1167835" cy="5711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b="1" sz="1500">
                  <a:solidFill>
                    <a:srgbClr val="142D4B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InfraSight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Footer Placeholder 6"/>
          <p:cNvSpPr txBox="1"/>
          <p:nvPr/>
        </p:nvSpPr>
        <p:spPr>
          <a:xfrm>
            <a:off x="4693920" y="6404295"/>
            <a:ext cx="31125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r>
              <a:t>@SIH Idea submission- Template</a:t>
            </a:r>
          </a:p>
        </p:txBody>
      </p:sp>
      <p:sp>
        <p:nvSpPr>
          <p:cNvPr id="308" name="Rectangle 9"/>
          <p:cNvSpPr/>
          <p:nvPr/>
        </p:nvSpPr>
        <p:spPr>
          <a:xfrm>
            <a:off x="-1" y="6354762"/>
            <a:ext cx="12192001" cy="503239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99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953735"/>
                </a:solidFill>
              </a:defRPr>
            </a:pPr>
          </a:p>
        </p:txBody>
      </p:sp>
      <p:sp>
        <p:nvSpPr>
          <p:cNvPr id="309" name="Title 1"/>
          <p:cNvSpPr txBox="1"/>
          <p:nvPr>
            <p:ph type="title"/>
          </p:nvPr>
        </p:nvSpPr>
        <p:spPr>
          <a:xfrm>
            <a:off x="1581629" y="57096"/>
            <a:ext cx="10000772" cy="1038279"/>
          </a:xfrm>
          <a:prstGeom prst="rect">
            <a:avLst/>
          </a:prstGeom>
        </p:spPr>
        <p:txBody>
          <a:bodyPr/>
          <a:lstStyle>
            <a:lvl1pPr algn="l">
              <a:defRPr b="1" sz="2400">
                <a:solidFill>
                  <a:srgbClr val="142D4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RESEARCH AND REFERENCES</a:t>
            </a:r>
          </a:p>
        </p:txBody>
      </p:sp>
      <p:sp>
        <p:nvSpPr>
          <p:cNvPr id="310" name="Slide Number Placeholder 5"/>
          <p:cNvSpPr txBox="1"/>
          <p:nvPr>
            <p:ph type="sldNum" sz="quarter" idx="2"/>
          </p:nvPr>
        </p:nvSpPr>
        <p:spPr>
          <a:xfrm>
            <a:off x="11393502" y="6404295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pic>
        <p:nvPicPr>
          <p:cNvPr id="31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841365" y="57096"/>
            <a:ext cx="2209121" cy="1122869"/>
          </a:xfrm>
          <a:prstGeom prst="rect">
            <a:avLst/>
          </a:prstGeom>
          <a:ln w="12700">
            <a:miter lim="400000"/>
          </a:ln>
        </p:spPr>
      </p:pic>
      <p:sp>
        <p:nvSpPr>
          <p:cNvPr id="312" name="TextBox 17410"/>
          <p:cNvSpPr txBox="1"/>
          <p:nvPr/>
        </p:nvSpPr>
        <p:spPr>
          <a:xfrm>
            <a:off x="264159" y="1221009"/>
            <a:ext cx="1088136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142D4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We begin our design with the official source and build out from the evidence.</a:t>
            </a:r>
          </a:p>
        </p:txBody>
      </p:sp>
      <p:grpSp>
        <p:nvGrpSpPr>
          <p:cNvPr id="315" name="Rounded Rectangle 17411"/>
          <p:cNvGrpSpPr/>
          <p:nvPr/>
        </p:nvGrpSpPr>
        <p:grpSpPr>
          <a:xfrm>
            <a:off x="502919" y="1645920"/>
            <a:ext cx="1600201" cy="310897"/>
            <a:chOff x="0" y="0"/>
            <a:chExt cx="1600200" cy="310895"/>
          </a:xfrm>
        </p:grpSpPr>
        <p:sp>
          <p:nvSpPr>
            <p:cNvPr id="313" name="Rounded Rectangle"/>
            <p:cNvSpPr/>
            <p:nvPr/>
          </p:nvSpPr>
          <p:spPr>
            <a:xfrm>
              <a:off x="0" y="0"/>
              <a:ext cx="1600200" cy="310896"/>
            </a:xfrm>
            <a:prstGeom prst="roundRect">
              <a:avLst>
                <a:gd name="adj" fmla="val 16667"/>
              </a:avLst>
            </a:prstGeom>
            <a:solidFill>
              <a:srgbClr val="2369AA"/>
            </a:solidFill>
            <a:ln w="12700" cap="flat">
              <a:solidFill>
                <a:srgbClr val="2369A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14" name="PRIMARY DATA"/>
            <p:cNvSpPr txBox="1"/>
            <p:nvPr/>
          </p:nvSpPr>
          <p:spPr>
            <a:xfrm>
              <a:off x="67246" y="33527"/>
              <a:ext cx="1465708" cy="243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PRIMARY DATA</a:t>
              </a:r>
            </a:p>
          </p:txBody>
        </p:sp>
      </p:grpSp>
      <p:grpSp>
        <p:nvGrpSpPr>
          <p:cNvPr id="318" name="Rounded Rectangle 17412"/>
          <p:cNvGrpSpPr/>
          <p:nvPr/>
        </p:nvGrpSpPr>
        <p:grpSpPr>
          <a:xfrm>
            <a:off x="502919" y="2011679"/>
            <a:ext cx="5074922" cy="1051561"/>
            <a:chOff x="0" y="0"/>
            <a:chExt cx="5074920" cy="1051560"/>
          </a:xfrm>
        </p:grpSpPr>
        <p:sp>
          <p:nvSpPr>
            <p:cNvPr id="316" name="Rounded Rectangle"/>
            <p:cNvSpPr/>
            <p:nvPr/>
          </p:nvSpPr>
          <p:spPr>
            <a:xfrm>
              <a:off x="0" y="0"/>
              <a:ext cx="5074921" cy="1051561"/>
            </a:xfrm>
            <a:prstGeom prst="roundRect">
              <a:avLst>
                <a:gd name="adj" fmla="val 16667"/>
              </a:avLst>
            </a:prstGeom>
            <a:solidFill>
              <a:srgbClr val="F2F6F9"/>
            </a:solidFill>
            <a:ln w="12700" cap="flat">
              <a:solidFill>
                <a:srgbClr val="D7E1E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17" name="Official MPLADS / government data source…"/>
            <p:cNvSpPr txBox="1"/>
            <p:nvPr/>
          </p:nvSpPr>
          <p:spPr>
            <a:xfrm>
              <a:off x="103402" y="276860"/>
              <a:ext cx="4868115" cy="497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1300">
                  <a:solidFill>
                    <a:srgbClr val="232D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Official MPLADS / government data source</a:t>
              </a:r>
            </a:p>
            <a:p>
              <a:pPr>
                <a:defRPr sz="1300">
                  <a:solidFill>
                    <a:srgbClr val="232D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Used as the foundation for project-level information.</a:t>
              </a:r>
            </a:p>
          </p:txBody>
        </p:sp>
      </p:grpSp>
      <p:grpSp>
        <p:nvGrpSpPr>
          <p:cNvPr id="321" name="Rounded Rectangle 17413"/>
          <p:cNvGrpSpPr/>
          <p:nvPr/>
        </p:nvGrpSpPr>
        <p:grpSpPr>
          <a:xfrm>
            <a:off x="6126479" y="1645920"/>
            <a:ext cx="1600201" cy="310897"/>
            <a:chOff x="0" y="0"/>
            <a:chExt cx="1600200" cy="310895"/>
          </a:xfrm>
        </p:grpSpPr>
        <p:sp>
          <p:nvSpPr>
            <p:cNvPr id="319" name="Rounded Rectangle"/>
            <p:cNvSpPr/>
            <p:nvPr/>
          </p:nvSpPr>
          <p:spPr>
            <a:xfrm>
              <a:off x="0" y="0"/>
              <a:ext cx="1600200" cy="310896"/>
            </a:xfrm>
            <a:prstGeom prst="roundRect">
              <a:avLst>
                <a:gd name="adj" fmla="val 16667"/>
              </a:avLst>
            </a:prstGeom>
            <a:solidFill>
              <a:srgbClr val="188782"/>
            </a:solidFill>
            <a:ln w="12700" cap="flat">
              <a:solidFill>
                <a:srgbClr val="188782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20" name="SCHEME &amp; POLICY"/>
            <p:cNvSpPr txBox="1"/>
            <p:nvPr/>
          </p:nvSpPr>
          <p:spPr>
            <a:xfrm>
              <a:off x="67246" y="33527"/>
              <a:ext cx="1465708" cy="243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SCHEME &amp; POLICY</a:t>
              </a:r>
            </a:p>
          </p:txBody>
        </p:sp>
      </p:grpSp>
      <p:grpSp>
        <p:nvGrpSpPr>
          <p:cNvPr id="324" name="Rounded Rectangle 17414"/>
          <p:cNvGrpSpPr/>
          <p:nvPr/>
        </p:nvGrpSpPr>
        <p:grpSpPr>
          <a:xfrm>
            <a:off x="6126479" y="2011679"/>
            <a:ext cx="5074921" cy="1051561"/>
            <a:chOff x="0" y="0"/>
            <a:chExt cx="5074920" cy="1051560"/>
          </a:xfrm>
        </p:grpSpPr>
        <p:sp>
          <p:nvSpPr>
            <p:cNvPr id="322" name="Rounded Rectangle"/>
            <p:cNvSpPr/>
            <p:nvPr/>
          </p:nvSpPr>
          <p:spPr>
            <a:xfrm>
              <a:off x="0" y="0"/>
              <a:ext cx="5074921" cy="1051561"/>
            </a:xfrm>
            <a:prstGeom prst="roundRect">
              <a:avLst>
                <a:gd name="adj" fmla="val 16667"/>
              </a:avLst>
            </a:prstGeom>
            <a:solidFill>
              <a:srgbClr val="F2F6F9"/>
            </a:solidFill>
            <a:ln w="12700" cap="flat">
              <a:solidFill>
                <a:srgbClr val="D7E1E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23" name="Official MPLADS documentation…"/>
            <p:cNvSpPr txBox="1"/>
            <p:nvPr/>
          </p:nvSpPr>
          <p:spPr>
            <a:xfrm>
              <a:off x="103402" y="175260"/>
              <a:ext cx="4868115" cy="701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1300">
                  <a:solidFill>
                    <a:srgbClr val="232D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Official MPLADS documentation</a:t>
              </a:r>
            </a:p>
            <a:p>
              <a:pPr>
                <a:defRPr sz="1300">
                  <a:solidFill>
                    <a:srgbClr val="232D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Used to understand project, expenditure and implementation context.</a:t>
              </a:r>
            </a:p>
          </p:txBody>
        </p:sp>
      </p:grpSp>
      <p:grpSp>
        <p:nvGrpSpPr>
          <p:cNvPr id="327" name="Rounded Rectangle 17415"/>
          <p:cNvGrpSpPr/>
          <p:nvPr/>
        </p:nvGrpSpPr>
        <p:grpSpPr>
          <a:xfrm>
            <a:off x="502919" y="3294888"/>
            <a:ext cx="1600201" cy="396241"/>
            <a:chOff x="0" y="0"/>
            <a:chExt cx="1600200" cy="396240"/>
          </a:xfrm>
        </p:grpSpPr>
        <p:sp>
          <p:nvSpPr>
            <p:cNvPr id="325" name="Rounded Rectangle"/>
            <p:cNvSpPr/>
            <p:nvPr/>
          </p:nvSpPr>
          <p:spPr>
            <a:xfrm>
              <a:off x="0" y="42671"/>
              <a:ext cx="1600200" cy="310897"/>
            </a:xfrm>
            <a:prstGeom prst="roundRect">
              <a:avLst>
                <a:gd name="adj" fmla="val 16667"/>
              </a:avLst>
            </a:prstGeom>
            <a:solidFill>
              <a:srgbClr val="E17D2D"/>
            </a:solidFill>
            <a:ln w="12700" cap="flat">
              <a:solidFill>
                <a:srgbClr val="E17D2D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26" name="TECHNICAL RESEARCH"/>
            <p:cNvSpPr txBox="1"/>
            <p:nvPr/>
          </p:nvSpPr>
          <p:spPr>
            <a:xfrm>
              <a:off x="67246" y="-1"/>
              <a:ext cx="1465708" cy="396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TECHNICAL RESEARCH</a:t>
              </a:r>
            </a:p>
          </p:txBody>
        </p:sp>
      </p:grpSp>
      <p:grpSp>
        <p:nvGrpSpPr>
          <p:cNvPr id="330" name="Rounded Rectangle 17416"/>
          <p:cNvGrpSpPr/>
          <p:nvPr/>
        </p:nvGrpSpPr>
        <p:grpSpPr>
          <a:xfrm>
            <a:off x="502919" y="3703320"/>
            <a:ext cx="5074922" cy="1051561"/>
            <a:chOff x="0" y="0"/>
            <a:chExt cx="5074920" cy="1051560"/>
          </a:xfrm>
        </p:grpSpPr>
        <p:sp>
          <p:nvSpPr>
            <p:cNvPr id="328" name="Rounded Rectangle"/>
            <p:cNvSpPr/>
            <p:nvPr/>
          </p:nvSpPr>
          <p:spPr>
            <a:xfrm>
              <a:off x="0" y="0"/>
              <a:ext cx="5074921" cy="1051561"/>
            </a:xfrm>
            <a:prstGeom prst="roundRect">
              <a:avLst>
                <a:gd name="adj" fmla="val 16667"/>
              </a:avLst>
            </a:prstGeom>
            <a:solidFill>
              <a:srgbClr val="F2F6F9"/>
            </a:solidFill>
            <a:ln w="12700" cap="flat">
              <a:solidFill>
                <a:srgbClr val="D7E1E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29" name="Geospatial visualization • data engineering • anomaly detection…"/>
            <p:cNvSpPr txBox="1"/>
            <p:nvPr/>
          </p:nvSpPr>
          <p:spPr>
            <a:xfrm>
              <a:off x="103402" y="276860"/>
              <a:ext cx="4868115" cy="497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1300">
                  <a:solidFill>
                    <a:srgbClr val="232D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Geospatial visualization • data engineering • anomaly detection</a:t>
              </a:r>
            </a:p>
            <a:p>
              <a:pPr>
                <a:defRPr sz="1300">
                  <a:solidFill>
                    <a:srgbClr val="232D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Used to guide the platform architecture and analysis approach.</a:t>
              </a:r>
            </a:p>
          </p:txBody>
        </p:sp>
      </p:grpSp>
      <p:grpSp>
        <p:nvGrpSpPr>
          <p:cNvPr id="333" name="Rounded Rectangle 17417"/>
          <p:cNvGrpSpPr/>
          <p:nvPr/>
        </p:nvGrpSpPr>
        <p:grpSpPr>
          <a:xfrm>
            <a:off x="6126479" y="3337559"/>
            <a:ext cx="1600201" cy="310897"/>
            <a:chOff x="0" y="0"/>
            <a:chExt cx="1600200" cy="310895"/>
          </a:xfrm>
        </p:grpSpPr>
        <p:sp>
          <p:nvSpPr>
            <p:cNvPr id="331" name="Rounded Rectangle"/>
            <p:cNvSpPr/>
            <p:nvPr/>
          </p:nvSpPr>
          <p:spPr>
            <a:xfrm>
              <a:off x="0" y="0"/>
              <a:ext cx="1600200" cy="310896"/>
            </a:xfrm>
            <a:prstGeom prst="roundRect">
              <a:avLst>
                <a:gd name="adj" fmla="val 16667"/>
              </a:avLst>
            </a:prstGeom>
            <a:solidFill>
              <a:srgbClr val="32915F"/>
            </a:solidFill>
            <a:ln w="12700" cap="flat">
              <a:solidFill>
                <a:srgbClr val="32915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32" name="PRECEDENTS"/>
            <p:cNvSpPr txBox="1"/>
            <p:nvPr/>
          </p:nvSpPr>
          <p:spPr>
            <a:xfrm>
              <a:off x="67246" y="33527"/>
              <a:ext cx="1465708" cy="243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PRECEDENTS</a:t>
              </a:r>
            </a:p>
          </p:txBody>
        </p:sp>
      </p:grpSp>
      <p:grpSp>
        <p:nvGrpSpPr>
          <p:cNvPr id="336" name="Rounded Rectangle 17418"/>
          <p:cNvGrpSpPr/>
          <p:nvPr/>
        </p:nvGrpSpPr>
        <p:grpSpPr>
          <a:xfrm>
            <a:off x="6126479" y="3703320"/>
            <a:ext cx="5074921" cy="1051561"/>
            <a:chOff x="0" y="0"/>
            <a:chExt cx="5074920" cy="1051560"/>
          </a:xfrm>
        </p:grpSpPr>
        <p:sp>
          <p:nvSpPr>
            <p:cNvPr id="334" name="Rounded Rectangle"/>
            <p:cNvSpPr/>
            <p:nvPr/>
          </p:nvSpPr>
          <p:spPr>
            <a:xfrm>
              <a:off x="0" y="0"/>
              <a:ext cx="5074921" cy="1051561"/>
            </a:xfrm>
            <a:prstGeom prst="roundRect">
              <a:avLst>
                <a:gd name="adj" fmla="val 16667"/>
              </a:avLst>
            </a:prstGeom>
            <a:solidFill>
              <a:srgbClr val="F2F6F9"/>
            </a:solidFill>
            <a:ln w="12700" cap="flat">
              <a:solidFill>
                <a:srgbClr val="D7E1E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35" name="Open-government and public-data platforms…"/>
            <p:cNvSpPr txBox="1"/>
            <p:nvPr/>
          </p:nvSpPr>
          <p:spPr>
            <a:xfrm>
              <a:off x="103402" y="276860"/>
              <a:ext cx="4868115" cy="497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1300">
                  <a:solidFill>
                    <a:srgbClr val="232D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Open-government and public-data platforms</a:t>
              </a:r>
            </a:p>
            <a:p>
              <a:pPr>
                <a:defRPr sz="1300">
                  <a:solidFill>
                    <a:srgbClr val="232D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Used to learn what makes complex information easier to explore.</a:t>
              </a:r>
            </a:p>
          </p:txBody>
        </p:sp>
      </p:grpSp>
      <p:grpSp>
        <p:nvGrpSpPr>
          <p:cNvPr id="339" name="Rounded Rectangle 17419"/>
          <p:cNvGrpSpPr/>
          <p:nvPr/>
        </p:nvGrpSpPr>
        <p:grpSpPr>
          <a:xfrm>
            <a:off x="320040" y="4848626"/>
            <a:ext cx="11155681" cy="1406179"/>
            <a:chOff x="0" y="0"/>
            <a:chExt cx="11155680" cy="1406178"/>
          </a:xfrm>
        </p:grpSpPr>
        <p:sp>
          <p:nvSpPr>
            <p:cNvPr id="337" name="Rounded Rectangle"/>
            <p:cNvSpPr/>
            <p:nvPr/>
          </p:nvSpPr>
          <p:spPr>
            <a:xfrm>
              <a:off x="0" y="0"/>
              <a:ext cx="11155681" cy="1406179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142D4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1400">
                  <a:solidFill>
                    <a:srgbClr val="142D4B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38" name="REFERENCE LINKS: [1] Ministry of Statistics &amp; Programme Implementation, Government of India — MPLADS Official Portal.…"/>
            <p:cNvSpPr txBox="1"/>
            <p:nvPr/>
          </p:nvSpPr>
          <p:spPr>
            <a:xfrm>
              <a:off x="120714" y="153145"/>
              <a:ext cx="10914252" cy="10998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142D4B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REFERENCE LINKS:</a:t>
              </a:r>
              <a:r>
                <a:t> [1] Ministry of Statistics &amp; Programme Implementation, Government of India — MPLADS Official Portal.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b="1" sz="1400">
                  <a:solidFill>
                    <a:srgbClr val="142D4B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[2] Ministry of Statistics &amp; Programme Implementation, Government of India — MPLADS Guidelines, 2023.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b="1" sz="1400">
                  <a:solidFill>
                    <a:srgbClr val="142D4B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[3] Press Information Bureau, Government of India — Revised MPLADS Guidelines 2023 &amp; New Web Portal.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b="1" sz="1400">
                  <a:solidFill>
                    <a:srgbClr val="142D4B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[4] Empowered Indian — Open-source Civic-Tech MPLADS Platform.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b="1" sz="1400">
                  <a:solidFill>
                    <a:srgbClr val="142D4B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[5] Vonter — India MPLADS Works Open Dataset.</a:t>
              </a:r>
            </a:p>
          </p:txBody>
        </p:sp>
      </p:grpSp>
      <p:pic>
        <p:nvPicPr>
          <p:cNvPr id="340" name="WhatsApp Image 2026-09-07 at 23.09.04.jpeg" descr="WhatsApp Image 2026-09-07 at 23.09.04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855758" y="16320"/>
            <a:ext cx="2286001" cy="11557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43" name="Oval 9"/>
          <p:cNvGrpSpPr/>
          <p:nvPr/>
        </p:nvGrpSpPr>
        <p:grpSpPr>
          <a:xfrm>
            <a:off x="180771" y="188322"/>
            <a:ext cx="1258620" cy="811696"/>
            <a:chOff x="0" y="0"/>
            <a:chExt cx="1258619" cy="811694"/>
          </a:xfrm>
        </p:grpSpPr>
        <p:sp>
          <p:nvSpPr>
            <p:cNvPr id="341" name="Oval"/>
            <p:cNvSpPr/>
            <p:nvPr/>
          </p:nvSpPr>
          <p:spPr>
            <a:xfrm>
              <a:off x="0" y="-1"/>
              <a:ext cx="1258620" cy="811696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42" name="InfraSight"/>
            <p:cNvSpPr txBox="1"/>
            <p:nvPr/>
          </p:nvSpPr>
          <p:spPr>
            <a:xfrm>
              <a:off x="45392" y="120289"/>
              <a:ext cx="1167835" cy="5711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b="1" sz="1500">
                  <a:solidFill>
                    <a:srgbClr val="142D4B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InfraSight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